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73" r:id="rId12"/>
    <p:sldId id="263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  <p:sldId id="276" r:id="rId22"/>
    <p:sldId id="278" r:id="rId23"/>
    <p:sldId id="277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DBCA"/>
    <a:srgbClr val="505861"/>
    <a:srgbClr val="D6DEEB"/>
    <a:srgbClr val="F78C6C"/>
    <a:srgbClr val="FF5874"/>
    <a:srgbClr val="ADDB67"/>
    <a:srgbClr val="C792EA"/>
    <a:srgbClr val="82AAFF"/>
    <a:srgbClr val="FFC720"/>
    <a:srgbClr val="1C8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39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3C3978-36E4-7FDA-EF59-3713893F8BFB}"/>
              </a:ext>
            </a:extLst>
          </p:cNvPr>
          <p:cNvSpPr/>
          <p:nvPr/>
        </p:nvSpPr>
        <p:spPr>
          <a:xfrm>
            <a:off x="0" y="1055985"/>
            <a:ext cx="12192000" cy="4746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1045B-8590-D897-D5C1-035FE4973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7" y="1575128"/>
            <a:ext cx="10402286" cy="370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7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5482E-7207-8FBC-A43E-84BDBDE3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55BB52-B8CB-07AF-7A16-DD808874841A}"/>
              </a:ext>
            </a:extLst>
          </p:cNvPr>
          <p:cNvSpPr/>
          <p:nvPr/>
        </p:nvSpPr>
        <p:spPr>
          <a:xfrm>
            <a:off x="2459115" y="2035628"/>
            <a:ext cx="7273770" cy="2786744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6636B-FF46-F9BB-DB0C-189010801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445" y="2664797"/>
            <a:ext cx="5931111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  <a:endParaRPr kumimoji="0" lang="en-US" altLang="en-US" sz="5000" b="0" i="0" u="none" strike="noStrike" cap="none" normalizeH="0" baseline="0" dirty="0">
              <a:ln>
                <a:noFill/>
              </a:ln>
              <a:solidFill>
                <a:srgbClr val="ADDB67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FDB463-EB12-7235-1162-8FB0518D89F8}"/>
              </a:ext>
            </a:extLst>
          </p:cNvPr>
          <p:cNvGrpSpPr/>
          <p:nvPr/>
        </p:nvGrpSpPr>
        <p:grpSpPr>
          <a:xfrm>
            <a:off x="3729220" y="2301581"/>
            <a:ext cx="4739056" cy="544971"/>
            <a:chOff x="3729220" y="2446925"/>
            <a:chExt cx="4739056" cy="54497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99A68-A424-65B9-A042-247E074F6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9220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EDCAF8-211D-53B6-48C3-F3DC768A8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7634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1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1D153A-E0DB-6CEC-3E48-A171F1484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834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2FB688-7585-EAC4-D573-ACACF5E706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4665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3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6DD76-0B15-4C75-BD32-F3ADA78368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1946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0D2C04-74E5-34EB-9B3D-D269D3587A06}"/>
              </a:ext>
            </a:extLst>
          </p:cNvPr>
          <p:cNvGrpSpPr/>
          <p:nvPr/>
        </p:nvGrpSpPr>
        <p:grpSpPr>
          <a:xfrm>
            <a:off x="3641055" y="3512159"/>
            <a:ext cx="4915387" cy="544971"/>
            <a:chOff x="3641055" y="4009262"/>
            <a:chExt cx="4915387" cy="54497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5D8236-BD76-E420-BBCC-EF52B682A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1055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E036C0-C5E4-D351-01B1-941E29110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17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7A00C3-72DC-C03E-1B77-B61FAB6E1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19669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2A104F-A461-9F82-1588-AC7CB5291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5848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FFC720"/>
                  </a:solidFill>
                  <a:latin typeface="Consolas" panose="020B0609020204030204" pitchFamily="49" charset="0"/>
                </a:rPr>
                <a:t>-2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50F76-99FA-EA56-6F0E-58D899DED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3781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-1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30A12DC-04E5-7328-3E4A-233ACF9BA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966" y="4155285"/>
            <a:ext cx="2343590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← count backwards</a:t>
            </a:r>
          </a:p>
        </p:txBody>
      </p:sp>
    </p:spTree>
    <p:extLst>
      <p:ext uri="{BB962C8B-B14F-4D97-AF65-F5344CB8AC3E}">
        <p14:creationId xmlns:p14="http://schemas.microsoft.com/office/powerpoint/2010/main" val="1408358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407FB7-4EEA-B5F9-BB81-2DE19BD22762}"/>
              </a:ext>
            </a:extLst>
          </p:cNvPr>
          <p:cNvSpPr/>
          <p:nvPr/>
        </p:nvSpPr>
        <p:spPr>
          <a:xfrm>
            <a:off x="2268637" y="64394"/>
            <a:ext cx="7654727" cy="6597663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A1EBB66-D87D-6A7D-02B7-179CF3AD61D2}"/>
              </a:ext>
            </a:extLst>
          </p:cNvPr>
          <p:cNvGrpSpPr/>
          <p:nvPr/>
        </p:nvGrpSpPr>
        <p:grpSpPr>
          <a:xfrm>
            <a:off x="2794197" y="412124"/>
            <a:ext cx="6603606" cy="5756856"/>
            <a:chOff x="4401391" y="412124"/>
            <a:chExt cx="6603606" cy="575685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CA9BFE8-312C-1971-373A-F1E1E4DB5EA1}"/>
                </a:ext>
              </a:extLst>
            </p:cNvPr>
            <p:cNvGrpSpPr/>
            <p:nvPr/>
          </p:nvGrpSpPr>
          <p:grpSpPr>
            <a:xfrm>
              <a:off x="4401391" y="412124"/>
              <a:ext cx="1451955" cy="5756856"/>
              <a:chOff x="4276748" y="412124"/>
              <a:chExt cx="1451955" cy="575685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87FD350-0D92-8C87-645D-0214AD4D3F34}"/>
                  </a:ext>
                </a:extLst>
              </p:cNvPr>
              <p:cNvSpPr/>
              <p:nvPr/>
            </p:nvSpPr>
            <p:spPr>
              <a:xfrm>
                <a:off x="4282226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61B11CA-778C-D978-E925-8E388F149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44637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a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b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c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d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e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08DA5E-43C6-956E-F829-C9240E7B3C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6748" y="538736"/>
                <a:ext cx="145195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1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0E1C5A4-AAF1-E12A-5483-C8B6BB666B35}"/>
                </a:ext>
              </a:extLst>
            </p:cNvPr>
            <p:cNvGrpSpPr/>
            <p:nvPr/>
          </p:nvGrpSpPr>
          <p:grpSpPr>
            <a:xfrm>
              <a:off x="6011925" y="412124"/>
              <a:ext cx="1467985" cy="5756856"/>
              <a:chOff x="6011925" y="412124"/>
              <a:chExt cx="1467985" cy="5756856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8E4C8D6-74F8-0695-58A6-2C1849C186C4}"/>
                  </a:ext>
                </a:extLst>
              </p:cNvPr>
              <p:cNvSpPr/>
              <p:nvPr/>
            </p:nvSpPr>
            <p:spPr>
              <a:xfrm>
                <a:off x="6025418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8682641-1D7F-3EF9-AB48-673D2FDF6D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7829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p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q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r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s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t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8C8E98-4F95-6854-1508-F790F2AEF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11925" y="538736"/>
                <a:ext cx="146798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2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FC598A-2A44-7AA0-6746-A6DA447D70AD}"/>
                </a:ext>
              </a:extLst>
            </p:cNvPr>
            <p:cNvSpPr/>
            <p:nvPr/>
          </p:nvSpPr>
          <p:spPr>
            <a:xfrm>
              <a:off x="7934601" y="412124"/>
              <a:ext cx="3070396" cy="5756856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1ABF70-3A5E-4784-D29A-7F644C651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78745" y="1073272"/>
              <a:ext cx="2479479" cy="487888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,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p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b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q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c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r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d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s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e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t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C1CCA8-0793-6FE3-1556-894C56E206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45593" y="538736"/>
              <a:ext cx="1145782" cy="45318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zipped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CCCDDFA-E135-5EFB-BF22-B228E414C790}"/>
                </a:ext>
              </a:extLst>
            </p:cNvPr>
            <p:cNvGrpSpPr/>
            <p:nvPr/>
          </p:nvGrpSpPr>
          <p:grpSpPr>
            <a:xfrm>
              <a:off x="7322976" y="1707969"/>
              <a:ext cx="867988" cy="3805707"/>
              <a:chOff x="5277726" y="1707969"/>
              <a:chExt cx="901642" cy="3805707"/>
            </a:xfrm>
          </p:grpSpPr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39821751-7A53-78D0-1AC0-AC2777425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1707969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0EFD5D1-CEAC-DC44-47F5-B05398950C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265939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BECF4BC2-B193-868A-4687-9187D34CA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3610823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1561A4A9-FDCA-7C40-6803-8AFB7B97F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4562250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468C00C-2B68-C06B-0B51-720C33FC4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551367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35706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D66869-0911-27B8-0480-27728D3FF76F}"/>
              </a:ext>
            </a:extLst>
          </p:cNvPr>
          <p:cNvSpPr/>
          <p:nvPr/>
        </p:nvSpPr>
        <p:spPr>
          <a:xfrm>
            <a:off x="1953986" y="1466850"/>
            <a:ext cx="8284028" cy="3924301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E21C98-61D9-513E-6010-622672A01B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1771309"/>
            <a:ext cx="7405874" cy="62191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each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 err="1">
                <a:solidFill>
                  <a:srgbClr val="D6DEEB"/>
                </a:solidFill>
                <a:latin typeface="Consolas" panose="020B0609020204030204" pitchFamily="49" charset="0"/>
              </a:rPr>
              <a:t>iterable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}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2C105-07DA-075F-45A4-40AB1A2E7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3063" y="3427087"/>
            <a:ext cx="3385542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{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key1: value1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key2: value2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key3: value3 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C2C3FF2-B5C5-2443-7C4E-4542C29EB6DD}"/>
              </a:ext>
            </a:extLst>
          </p:cNvPr>
          <p:cNvCxnSpPr>
            <a:cxnSpLocks/>
          </p:cNvCxnSpPr>
          <p:nvPr/>
        </p:nvCxnSpPr>
        <p:spPr>
          <a:xfrm>
            <a:off x="3220571" y="2555764"/>
            <a:ext cx="0" cy="712673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35C9C0-A461-C10C-511E-3EF1B0A4F331}"/>
              </a:ext>
            </a:extLst>
          </p:cNvPr>
          <p:cNvCxnSpPr>
            <a:cxnSpLocks/>
          </p:cNvCxnSpPr>
          <p:nvPr/>
        </p:nvCxnSpPr>
        <p:spPr>
          <a:xfrm>
            <a:off x="4428884" y="2555764"/>
            <a:ext cx="0" cy="712673"/>
          </a:xfrm>
          <a:prstGeom prst="straightConnector1">
            <a:avLst/>
          </a:prstGeom>
          <a:noFill/>
          <a:ln w="25400">
            <a:solidFill>
              <a:srgbClr val="FF5874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00D0C8-40C1-057E-B137-DA49163C03D6}"/>
              </a:ext>
            </a:extLst>
          </p:cNvPr>
          <p:cNvCxnSpPr>
            <a:cxnSpLocks/>
          </p:cNvCxnSpPr>
          <p:nvPr/>
        </p:nvCxnSpPr>
        <p:spPr>
          <a:xfrm>
            <a:off x="8549127" y="2555764"/>
            <a:ext cx="0" cy="712673"/>
          </a:xfrm>
          <a:prstGeom prst="straightConnector1">
            <a:avLst/>
          </a:prstGeom>
          <a:noFill/>
          <a:ln w="25400">
            <a:solidFill>
              <a:srgbClr val="D6DEEB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06C43F0-98B7-DA95-0323-C0FE383AE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96943" y="3427087"/>
            <a:ext cx="1904367" cy="1545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[ each1,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 each2,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D6DEEB">
                    <a:alpha val="50000"/>
                  </a:srgbClr>
                </a:solidFill>
                <a:latin typeface="Consolas" panose="020B0609020204030204" pitchFamily="49" charset="0"/>
              </a:rPr>
              <a:t>  each3 ]</a:t>
            </a:r>
          </a:p>
        </p:txBody>
      </p:sp>
    </p:spTree>
    <p:extLst>
      <p:ext uri="{BB962C8B-B14F-4D97-AF65-F5344CB8AC3E}">
        <p14:creationId xmlns:p14="http://schemas.microsoft.com/office/powerpoint/2010/main" val="2173943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F0A3B0-725D-F3BD-3F32-667A4611A7AE}"/>
              </a:ext>
            </a:extLst>
          </p:cNvPr>
          <p:cNvSpPr/>
          <p:nvPr/>
        </p:nvSpPr>
        <p:spPr>
          <a:xfrm>
            <a:off x="1953986" y="1665514"/>
            <a:ext cx="8284028" cy="35269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85D692-392D-8581-FBDE-03E58FCF4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9988" y="2194713"/>
            <a:ext cx="5992025" cy="246857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x = </a:t>
            </a:r>
            <a:r>
              <a:rPr lang="en-GB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🥕        </a:t>
            </a:r>
            <a:r>
              <a:rPr kumimoji="0" lang="en-GB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🫧</a:t>
            </a:r>
            <a:endParaRPr lang="en-US" altLang="en-US" sz="5000" dirty="0">
              <a:solidFill>
                <a:srgbClr val="D6DEEB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5000" dirty="0">
              <a:solidFill>
                <a:srgbClr val="D6DEEB"/>
              </a:solidFill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y = </a:t>
            </a:r>
            <a:r>
              <a:rPr kumimoji="0" lang="en-GB" altLang="en-US" sz="5000" b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🫧        </a:t>
            </a:r>
            <a:r>
              <a:rPr lang="en-GB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🥕</a:t>
            </a:r>
            <a:endParaRPr kumimoji="0" lang="en-US" altLang="en-US" sz="5000" b="0" u="none" strike="noStrike" cap="none" normalizeH="0" baseline="0" dirty="0">
              <a:ln>
                <a:noFill/>
              </a:ln>
              <a:solidFill>
                <a:srgbClr val="D6DEEB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564E78-B1C6-21C5-807F-D0C594C1CFCD}"/>
              </a:ext>
            </a:extLst>
          </p:cNvPr>
          <p:cNvCxnSpPr>
            <a:cxnSpLocks/>
          </p:cNvCxnSpPr>
          <p:nvPr/>
        </p:nvCxnSpPr>
        <p:spPr>
          <a:xfrm>
            <a:off x="5573487" y="2999013"/>
            <a:ext cx="2449286" cy="1137557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B75E09-29F3-E1F3-BFFA-8255D147F8EB}"/>
              </a:ext>
            </a:extLst>
          </p:cNvPr>
          <p:cNvCxnSpPr>
            <a:cxnSpLocks/>
          </p:cNvCxnSpPr>
          <p:nvPr/>
        </p:nvCxnSpPr>
        <p:spPr>
          <a:xfrm flipV="1">
            <a:off x="5573487" y="2999013"/>
            <a:ext cx="2449286" cy="1137557"/>
          </a:xfrm>
          <a:prstGeom prst="straightConnector1">
            <a:avLst/>
          </a:prstGeom>
          <a:noFill/>
          <a:ln w="25400">
            <a:solidFill>
              <a:srgbClr val="C792EA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02885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R.I.P. Dennis Ritchie, half of the K&amp;R Bible for C Programming |  Code.DanYork.Com">
            <a:extLst>
              <a:ext uri="{FF2B5EF4-FFF2-40B4-BE49-F238E27FC236}">
                <a16:creationId xmlns:a16="http://schemas.microsoft.com/office/drawing/2014/main" id="{4F618E1B-FB45-AED6-D333-5683F546F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510" y="3541690"/>
            <a:ext cx="1749014" cy="2197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e pragmatic programmer book tips (Part 1) - DEV Community">
            <a:extLst>
              <a:ext uri="{FF2B5EF4-FFF2-40B4-BE49-F238E27FC236}">
                <a16:creationId xmlns:a16="http://schemas.microsoft.com/office/drawing/2014/main" id="{21CC373A-FCCE-5CB4-910E-621E22C7C3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700677" y="3540148"/>
            <a:ext cx="2291099" cy="219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2D4133B-817A-AC8B-DA30-E2773CFC79F5}"/>
              </a:ext>
            </a:extLst>
          </p:cNvPr>
          <p:cNvSpPr/>
          <p:nvPr/>
        </p:nvSpPr>
        <p:spPr>
          <a:xfrm>
            <a:off x="5081789" y="920839"/>
            <a:ext cx="2028423" cy="2028423"/>
          </a:xfrm>
          <a:prstGeom prst="rect">
            <a:avLst/>
          </a:prstGeom>
          <a:noFill/>
          <a:ln w="5080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C800D0-3506-1B81-EE52-78B4F30D53A1}"/>
              </a:ext>
            </a:extLst>
          </p:cNvPr>
          <p:cNvCxnSpPr>
            <a:cxnSpLocks/>
          </p:cNvCxnSpPr>
          <p:nvPr/>
        </p:nvCxnSpPr>
        <p:spPr>
          <a:xfrm flipV="1">
            <a:off x="3656451" y="1935050"/>
            <a:ext cx="1198884" cy="138126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23C5C4-FCDA-6839-5189-0D5858884BC6}"/>
              </a:ext>
            </a:extLst>
          </p:cNvPr>
          <p:cNvCxnSpPr>
            <a:cxnSpLocks/>
          </p:cNvCxnSpPr>
          <p:nvPr/>
        </p:nvCxnSpPr>
        <p:spPr>
          <a:xfrm flipH="1">
            <a:off x="4855335" y="4639882"/>
            <a:ext cx="2575775" cy="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8CCAC00-416D-DFB3-3951-057CE1CE1D86}"/>
              </a:ext>
            </a:extLst>
          </p:cNvPr>
          <p:cNvCxnSpPr>
            <a:cxnSpLocks/>
          </p:cNvCxnSpPr>
          <p:nvPr/>
        </p:nvCxnSpPr>
        <p:spPr>
          <a:xfrm>
            <a:off x="7480533" y="1935050"/>
            <a:ext cx="1198884" cy="1381260"/>
          </a:xfrm>
          <a:prstGeom prst="straightConnector1">
            <a:avLst/>
          </a:prstGeom>
          <a:noFill/>
          <a:ln w="508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A663124-AFB2-5702-7041-4AF3D9077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3183" y="2080709"/>
            <a:ext cx="139462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500" dirty="0">
                <a:solidFill>
                  <a:srgbClr val="C792EA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1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0E1831-FA17-C198-7579-680F7B8B89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3873" y="4894743"/>
            <a:ext cx="158698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C792EA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68F696-1F62-490F-2162-8A6AC7B80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94148" y="2080709"/>
            <a:ext cx="160300" cy="54497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500" dirty="0">
                <a:solidFill>
                  <a:srgbClr val="C792EA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3</a:t>
            </a: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39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02BA45-2475-5BF5-CF63-FC2E44F38B75}"/>
              </a:ext>
            </a:extLst>
          </p:cNvPr>
          <p:cNvSpPr/>
          <p:nvPr/>
        </p:nvSpPr>
        <p:spPr>
          <a:xfrm>
            <a:off x="571500" y="1153887"/>
            <a:ext cx="11049000" cy="455022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019760-9C40-184F-F50D-ADB704F860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5325" y="4315978"/>
            <a:ext cx="8966264" cy="53436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 err="1">
                <a:solidFill>
                  <a:srgbClr val="82AAFF"/>
                </a:solidFill>
                <a:latin typeface="Consolas" panose="020B0609020204030204" pitchFamily="49" charset="0"/>
              </a:rPr>
              <a:t>create_student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 </a:t>
            </a: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)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rgbClr val="C792EA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CB092F-526E-5E59-1F84-7B6A22530C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1667" y="2700151"/>
            <a:ext cx="7273493" cy="99603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4000" tIns="36000" rIns="144000" bIns="36000" numCol="1" anchor="b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info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[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info </a:t>
            </a:r>
            <a:r>
              <a:rPr lang="en-US" altLang="en-US" sz="3000" dirty="0">
                <a:solidFill>
                  <a:srgbClr val="7FDBCA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 err="1">
                <a:solidFill>
                  <a:srgbClr val="ADDB67"/>
                </a:solidFill>
                <a:latin typeface="Consolas" panose="020B0609020204030204" pitchFamily="49" charset="0"/>
              </a:rPr>
              <a:t>Stralian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F78C6C"/>
                </a:solidFill>
                <a:latin typeface="Consolas" panose="020B0609020204030204" pitchFamily="49" charset="0"/>
              </a:rPr>
              <a:t>21</a:t>
            </a:r>
            <a:r>
              <a:rPr lang="en-US" altLang="en-US" sz="3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0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000" dirty="0">
                <a:solidFill>
                  <a:srgbClr val="ADDB67"/>
                </a:solidFill>
                <a:latin typeface="Consolas" panose="020B0609020204030204" pitchFamily="49" charset="0"/>
              </a:rPr>
              <a:t>"Haven"</a:t>
            </a:r>
            <a:endParaRPr lang="en-US" altLang="en-US" sz="3000" dirty="0">
              <a:solidFill>
                <a:srgbClr val="D6DEEB"/>
              </a:solidFill>
              <a:latin typeface="Consolas" panose="020B060902020403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0181C6-818B-53A6-8BC9-1B4BCE603203}"/>
              </a:ext>
            </a:extLst>
          </p:cNvPr>
          <p:cNvCxnSpPr>
            <a:cxnSpLocks/>
          </p:cNvCxnSpPr>
          <p:nvPr/>
        </p:nvCxnSpPr>
        <p:spPr>
          <a:xfrm>
            <a:off x="6189743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007EDAA-0709-48E4-2428-0F377C356BCD}"/>
              </a:ext>
            </a:extLst>
          </p:cNvPr>
          <p:cNvCxnSpPr>
            <a:cxnSpLocks/>
          </p:cNvCxnSpPr>
          <p:nvPr/>
        </p:nvCxnSpPr>
        <p:spPr>
          <a:xfrm>
            <a:off x="7834612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98DE67-F890-D8A8-DFB2-173A155B0226}"/>
              </a:ext>
            </a:extLst>
          </p:cNvPr>
          <p:cNvCxnSpPr>
            <a:cxnSpLocks/>
          </p:cNvCxnSpPr>
          <p:nvPr/>
        </p:nvCxnSpPr>
        <p:spPr>
          <a:xfrm>
            <a:off x="9232488" y="3853791"/>
            <a:ext cx="0" cy="334581"/>
          </a:xfrm>
          <a:prstGeom prst="straightConnector1">
            <a:avLst/>
          </a:prstGeom>
          <a:noFill/>
          <a:ln w="25400">
            <a:solidFill>
              <a:srgbClr val="FFC72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12D185C-FB87-5CEA-0316-20B2E8A28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2208" y="4872782"/>
            <a:ext cx="855070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B19AF2-9A37-E76D-4CF3-AA1087603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0161" y="4872782"/>
            <a:ext cx="714005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AGE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6F9749-F3AC-9D8D-E5D6-79C861DD6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4422" y="4872782"/>
            <a:ext cx="996135" cy="380480"/>
          </a:xfrm>
          <a:prstGeom prst="rect">
            <a:avLst/>
          </a:prstGeom>
          <a:solidFill>
            <a:srgbClr val="505861">
              <a:alpha val="50196"/>
            </a:srgbClr>
          </a:solidFill>
          <a:ln>
            <a:noFill/>
          </a:ln>
          <a:effectLst/>
        </p:spPr>
        <p:txBody>
          <a:bodyPr vert="horz" wrap="none" lIns="144000" tIns="36000" rIns="144000" bIns="36000" numCol="1" anchor="t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HOUSE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31721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0</TotalTime>
  <Words>425</Words>
  <Application>Microsoft Office PowerPoint</Application>
  <PresentationFormat>Widescreen</PresentationFormat>
  <Paragraphs>96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Sniglet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2025-04-24T08:28:12Z</dcterms:created>
  <dcterms:modified xsi:type="dcterms:W3CDTF">2025-04-24T09:16:57Z</dcterms:modified>
</cp:coreProperties>
</file>