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73" r:id="rId12"/>
    <p:sldId id="263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5" r:id="rId21"/>
    <p:sldId id="276" r:id="rId22"/>
    <p:sldId id="278" r:id="rId23"/>
    <p:sldId id="277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92EA"/>
    <a:srgbClr val="ADDB67"/>
    <a:srgbClr val="82AAFF"/>
    <a:srgbClr val="D6DEEB"/>
    <a:srgbClr val="7FDBCA"/>
    <a:srgbClr val="505861"/>
    <a:srgbClr val="F78C6C"/>
    <a:srgbClr val="FF5874"/>
    <a:srgbClr val="FFC720"/>
    <a:srgbClr val="1C8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255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3C3978-36E4-7FDA-EF59-3713893F8BFB}"/>
              </a:ext>
            </a:extLst>
          </p:cNvPr>
          <p:cNvSpPr/>
          <p:nvPr/>
        </p:nvSpPr>
        <p:spPr>
          <a:xfrm>
            <a:off x="0" y="1055985"/>
            <a:ext cx="12192000" cy="47460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11045B-8590-D897-D5C1-035FE4973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57" y="1575128"/>
            <a:ext cx="10402286" cy="370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07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2884039" y="2393206"/>
            <a:ext cx="6423922" cy="207158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3650807" y="2803849"/>
            <a:ext cx="4906716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5902610" y="2844068"/>
            <a:ext cx="2591851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2103" y="2876515"/>
            <a:ext cx="4587794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99" y="3706615"/>
            <a:ext cx="4485202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72C8-B991-8D4A-BFEE-F8B96ED2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232A56-72B5-F3B8-1011-9739CB695EBC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C0FAF3-37DF-5558-C091-0DE19413E45E}"/>
              </a:ext>
            </a:extLst>
          </p:cNvPr>
          <p:cNvGrpSpPr/>
          <p:nvPr/>
        </p:nvGrpSpPr>
        <p:grpSpPr>
          <a:xfrm>
            <a:off x="2597276" y="2168066"/>
            <a:ext cx="7010499" cy="2521868"/>
            <a:chOff x="2597276" y="2168066"/>
            <a:chExt cx="7010499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97AABA-5543-0AE6-58F1-D5BA0CF557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B27E3BB-EE7A-9408-52A5-3596D8E885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9299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1A71F8-67BA-8161-C7AC-C4FFE8106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7276" y="3914131"/>
              <a:ext cx="2778005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x is truthy, so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C531658-A2FD-3150-7C62-F7073F1C6C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2771" y="3914131"/>
              <a:ext cx="3525004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what y is makes no difference!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65FF70E-B363-4F88-747D-4ABA821758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598775-A9C1-BBDD-A97D-9ED9F0FD51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6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3B9FE-EFC6-7F38-E2C0-AEEBDCB3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EFD39A-37BA-56F9-C0C5-024D05CFCCAA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B7372-AB78-FB4C-9C58-7661A566907B}"/>
              </a:ext>
            </a:extLst>
          </p:cNvPr>
          <p:cNvGrpSpPr/>
          <p:nvPr/>
        </p:nvGrpSpPr>
        <p:grpSpPr>
          <a:xfrm>
            <a:off x="2789118" y="2168066"/>
            <a:ext cx="6613764" cy="2521868"/>
            <a:chOff x="2926457" y="2168066"/>
            <a:chExt cx="6613764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D9488A-2CB0-5A21-8A43-A2AD54294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497053-D709-20C4-0986-C32F6CF87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7342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A2765-D319-204B-E410-BE399B1901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6457" y="3914131"/>
              <a:ext cx="2669000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000" dirty="0">
                  <a:solidFill>
                    <a:srgbClr val="D6DEEB"/>
                  </a:solidFill>
                  <a:latin typeface="Fira Sans" panose="020B0503050000020004" pitchFamily="34" charset="0"/>
                  <a:ea typeface="Fira Mono" panose="020B0509050000020004" pitchFamily="49" charset="0"/>
                </a:rPr>
                <a:t>if y is truthy, 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87113C-F05E-741E-7C9D-3079B5417E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4728" y="3914130"/>
              <a:ext cx="2505493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if y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,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3CC74C3-4C75-02D2-DFA0-776288E76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E93A6E5-E4F7-F7D6-D79C-57897B0D0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10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F1C9B-3E47-4006-4866-51A69258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344137-8A80-E122-41B1-E87FAF0785B9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59D9D-E01C-D1E9-9D66-50C5307CA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1228" y="3095525"/>
            <a:ext cx="3359894" cy="7758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if either expression is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,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the whole expression is </a:t>
            </a:r>
            <a:r>
              <a:rPr lang="en-US" altLang="en-US" sz="2000" dirty="0" err="1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B9346E-0C1A-3B88-E42A-1281C97F3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2428033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8BBE4F-C735-860E-9529-DF4413BE5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3500276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98507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5482E-7207-8FBC-A43E-84BDBDE3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55BB52-B8CB-07AF-7A16-DD808874841A}"/>
              </a:ext>
            </a:extLst>
          </p:cNvPr>
          <p:cNvSpPr/>
          <p:nvPr/>
        </p:nvSpPr>
        <p:spPr>
          <a:xfrm>
            <a:off x="2459115" y="2035628"/>
            <a:ext cx="7273770" cy="2786744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46636B-FF46-F9BB-DB0C-189010801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0445" y="2664797"/>
            <a:ext cx="5931111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]</a:t>
            </a:r>
            <a:endParaRPr kumimoji="0" lang="en-US" altLang="en-US" sz="5000" b="0" i="0" u="none" strike="noStrike" cap="none" normalizeH="0" baseline="0" dirty="0">
              <a:ln>
                <a:noFill/>
              </a:ln>
              <a:solidFill>
                <a:srgbClr val="ADDB67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FDB463-EB12-7235-1162-8FB0518D89F8}"/>
              </a:ext>
            </a:extLst>
          </p:cNvPr>
          <p:cNvGrpSpPr/>
          <p:nvPr/>
        </p:nvGrpSpPr>
        <p:grpSpPr>
          <a:xfrm>
            <a:off x="3729220" y="2301581"/>
            <a:ext cx="4739056" cy="544971"/>
            <a:chOff x="3729220" y="2446925"/>
            <a:chExt cx="4739056" cy="54497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99A68-A424-65B9-A042-247E074F6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9220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EDCAF8-211D-53B6-48C3-F3DC768A8E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7634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1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1D153A-E0DB-6CEC-3E48-A171F1484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834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2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2FB688-7585-EAC4-D573-ACACF5E706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4665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3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26DD76-0B15-4C75-BD32-F3ADA78368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1946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0D2C04-74E5-34EB-9B3D-D269D3587A06}"/>
              </a:ext>
            </a:extLst>
          </p:cNvPr>
          <p:cNvGrpSpPr/>
          <p:nvPr/>
        </p:nvGrpSpPr>
        <p:grpSpPr>
          <a:xfrm>
            <a:off x="3641055" y="3512159"/>
            <a:ext cx="4915387" cy="544971"/>
            <a:chOff x="3641055" y="4009262"/>
            <a:chExt cx="4915387" cy="54497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5D8236-BD76-E420-BBCC-EF52B682AD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1055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E036C0-C5E4-D351-01B1-941E29110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817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77A00C3-72DC-C03E-1B77-B61FAB6E1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19669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2A104F-A461-9F82-1588-AC7CB5291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5848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FFC720"/>
                  </a:solidFill>
                  <a:latin typeface="Consolas" panose="020B0609020204030204" pitchFamily="49" charset="0"/>
                </a:rPr>
                <a:t>-2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850F76-99FA-EA56-6F0E-58D899DED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3781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-1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630A12DC-04E5-7328-3E4A-233ACF9BA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7966" y="4155285"/>
            <a:ext cx="2343590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← count backwards</a:t>
            </a:r>
          </a:p>
        </p:txBody>
      </p:sp>
    </p:spTree>
    <p:extLst>
      <p:ext uri="{BB962C8B-B14F-4D97-AF65-F5344CB8AC3E}">
        <p14:creationId xmlns:p14="http://schemas.microsoft.com/office/powerpoint/2010/main" val="1408358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407FB7-4EEA-B5F9-BB81-2DE19BD22762}"/>
              </a:ext>
            </a:extLst>
          </p:cNvPr>
          <p:cNvSpPr/>
          <p:nvPr/>
        </p:nvSpPr>
        <p:spPr>
          <a:xfrm>
            <a:off x="2268637" y="64394"/>
            <a:ext cx="7654727" cy="6597663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A1EBB66-D87D-6A7D-02B7-179CF3AD61D2}"/>
              </a:ext>
            </a:extLst>
          </p:cNvPr>
          <p:cNvGrpSpPr/>
          <p:nvPr/>
        </p:nvGrpSpPr>
        <p:grpSpPr>
          <a:xfrm>
            <a:off x="2794197" y="412124"/>
            <a:ext cx="6603606" cy="5756856"/>
            <a:chOff x="4401391" y="412124"/>
            <a:chExt cx="6603606" cy="575685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CA9BFE8-312C-1971-373A-F1E1E4DB5EA1}"/>
                </a:ext>
              </a:extLst>
            </p:cNvPr>
            <p:cNvGrpSpPr/>
            <p:nvPr/>
          </p:nvGrpSpPr>
          <p:grpSpPr>
            <a:xfrm>
              <a:off x="4401391" y="412124"/>
              <a:ext cx="1451955" cy="5756856"/>
              <a:chOff x="4276748" y="412124"/>
              <a:chExt cx="1451955" cy="575685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87FD350-0D92-8C87-645D-0214AD4D3F34}"/>
                  </a:ext>
                </a:extLst>
              </p:cNvPr>
              <p:cNvSpPr/>
              <p:nvPr/>
            </p:nvSpPr>
            <p:spPr>
              <a:xfrm>
                <a:off x="4282226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61B11CA-778C-D978-E925-8E388F1491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44637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a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b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c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d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e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08DA5E-43C6-956E-F829-C9240E7B3C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6748" y="538736"/>
                <a:ext cx="145195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1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0E1C5A4-AAF1-E12A-5483-C8B6BB666B35}"/>
                </a:ext>
              </a:extLst>
            </p:cNvPr>
            <p:cNvGrpSpPr/>
            <p:nvPr/>
          </p:nvGrpSpPr>
          <p:grpSpPr>
            <a:xfrm>
              <a:off x="6011925" y="412124"/>
              <a:ext cx="1467985" cy="5756856"/>
              <a:chOff x="6011925" y="412124"/>
              <a:chExt cx="1467985" cy="5756856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8E4C8D6-74F8-0695-58A6-2C1849C186C4}"/>
                  </a:ext>
                </a:extLst>
              </p:cNvPr>
              <p:cNvSpPr/>
              <p:nvPr/>
            </p:nvSpPr>
            <p:spPr>
              <a:xfrm>
                <a:off x="6025418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8682641-1D7F-3EF9-AB48-673D2FDF6D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7829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p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q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r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s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t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8C8E98-4F95-6854-1508-F790F2AEF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11925" y="538736"/>
                <a:ext cx="146798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2</a:t>
                </a: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FC598A-2A44-7AA0-6746-A6DA447D70AD}"/>
                </a:ext>
              </a:extLst>
            </p:cNvPr>
            <p:cNvSpPr/>
            <p:nvPr/>
          </p:nvSpPr>
          <p:spPr>
            <a:xfrm>
              <a:off x="7934601" y="412124"/>
              <a:ext cx="3070396" cy="5756856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1ABF70-3A5E-4784-D29A-7F644C651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78745" y="1073272"/>
              <a:ext cx="2479479" cy="487888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a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,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p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b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q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c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r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d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s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e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t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C1CCA8-0793-6FE3-1556-894C56E206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45593" y="538736"/>
              <a:ext cx="1145782" cy="45318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zipped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CCCDDFA-E135-5EFB-BF22-B228E414C790}"/>
                </a:ext>
              </a:extLst>
            </p:cNvPr>
            <p:cNvGrpSpPr/>
            <p:nvPr/>
          </p:nvGrpSpPr>
          <p:grpSpPr>
            <a:xfrm>
              <a:off x="7322976" y="1707969"/>
              <a:ext cx="867988" cy="3805707"/>
              <a:chOff x="5277726" y="1707969"/>
              <a:chExt cx="901642" cy="3805707"/>
            </a:xfrm>
          </p:grpSpPr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39821751-7A53-78D0-1AC0-AC27774253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1707969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0EFD5D1-CEAC-DC44-47F5-B05398950C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265939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BECF4BC2-B193-868A-4687-9187D34CA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3610823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1561A4A9-FDCA-7C40-6803-8AFB7B97F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4562250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468C00C-2B68-C06B-0B51-720C33FC4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551367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35706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D66869-0911-27B8-0480-27728D3FF76F}"/>
              </a:ext>
            </a:extLst>
          </p:cNvPr>
          <p:cNvSpPr/>
          <p:nvPr/>
        </p:nvSpPr>
        <p:spPr>
          <a:xfrm>
            <a:off x="1953986" y="1466850"/>
            <a:ext cx="8284028" cy="3924301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E21C98-61D9-513E-6010-622672A01B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063" y="1771309"/>
            <a:ext cx="7405874" cy="62191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{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each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 err="1">
                <a:solidFill>
                  <a:srgbClr val="D6DEEB"/>
                </a:solidFill>
                <a:latin typeface="Consolas" panose="020B0609020204030204" pitchFamily="49" charset="0"/>
              </a:rPr>
              <a:t>iterable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}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2C105-07DA-075F-45A4-40AB1A2E7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063" y="3427087"/>
            <a:ext cx="3385542" cy="1545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{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key1: value1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key2: value2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key3: value3 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C2C3FF2-B5C5-2443-7C4E-4542C29EB6DD}"/>
              </a:ext>
            </a:extLst>
          </p:cNvPr>
          <p:cNvCxnSpPr>
            <a:cxnSpLocks/>
          </p:cNvCxnSpPr>
          <p:nvPr/>
        </p:nvCxnSpPr>
        <p:spPr>
          <a:xfrm>
            <a:off x="3220571" y="2555764"/>
            <a:ext cx="0" cy="712673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35C9C0-A461-C10C-511E-3EF1B0A4F331}"/>
              </a:ext>
            </a:extLst>
          </p:cNvPr>
          <p:cNvCxnSpPr>
            <a:cxnSpLocks/>
          </p:cNvCxnSpPr>
          <p:nvPr/>
        </p:nvCxnSpPr>
        <p:spPr>
          <a:xfrm>
            <a:off x="4428884" y="2555764"/>
            <a:ext cx="0" cy="712673"/>
          </a:xfrm>
          <a:prstGeom prst="straightConnector1">
            <a:avLst/>
          </a:prstGeom>
          <a:noFill/>
          <a:ln w="25400">
            <a:solidFill>
              <a:srgbClr val="FF5874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00D0C8-40C1-057E-B137-DA49163C03D6}"/>
              </a:ext>
            </a:extLst>
          </p:cNvPr>
          <p:cNvCxnSpPr>
            <a:cxnSpLocks/>
          </p:cNvCxnSpPr>
          <p:nvPr/>
        </p:nvCxnSpPr>
        <p:spPr>
          <a:xfrm>
            <a:off x="8549127" y="2555764"/>
            <a:ext cx="0" cy="712673"/>
          </a:xfrm>
          <a:prstGeom prst="straightConnector1">
            <a:avLst/>
          </a:prstGeom>
          <a:noFill/>
          <a:ln w="25400">
            <a:solidFill>
              <a:srgbClr val="D6DEEB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506C43F0-98B7-DA95-0323-C0FE383AE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943" y="3427087"/>
            <a:ext cx="1904367" cy="1545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[ each1,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 each2,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each3 ]</a:t>
            </a:r>
          </a:p>
        </p:txBody>
      </p:sp>
    </p:spTree>
    <p:extLst>
      <p:ext uri="{BB962C8B-B14F-4D97-AF65-F5344CB8AC3E}">
        <p14:creationId xmlns:p14="http://schemas.microsoft.com/office/powerpoint/2010/main" val="2173943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F0A3B0-725D-F3BD-3F32-667A4611A7AE}"/>
              </a:ext>
            </a:extLst>
          </p:cNvPr>
          <p:cNvSpPr/>
          <p:nvPr/>
        </p:nvSpPr>
        <p:spPr>
          <a:xfrm>
            <a:off x="1953986" y="1665514"/>
            <a:ext cx="8284028" cy="35269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85D692-392D-8581-FBDE-03E58FCF40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9988" y="2194713"/>
            <a:ext cx="5992025" cy="246857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x = </a:t>
            </a:r>
            <a:r>
              <a:rPr lang="en-GB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🥕        </a:t>
            </a:r>
            <a:r>
              <a:rPr kumimoji="0" lang="en-GB" altLang="en-US" sz="5000" b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🫧</a:t>
            </a:r>
            <a:endParaRPr lang="en-US" altLang="en-US" sz="5000" dirty="0">
              <a:solidFill>
                <a:srgbClr val="D6DEEB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5000" dirty="0">
              <a:solidFill>
                <a:srgbClr val="D6DEEB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y = </a:t>
            </a:r>
            <a:r>
              <a:rPr kumimoji="0" lang="en-GB" altLang="en-US" sz="5000" b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🫧        </a:t>
            </a:r>
            <a:r>
              <a:rPr lang="en-GB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🥕</a:t>
            </a:r>
            <a:endParaRPr kumimoji="0" lang="en-US" altLang="en-US" sz="5000" b="0" u="none" strike="noStrike" cap="none" normalizeH="0" baseline="0" dirty="0">
              <a:ln>
                <a:noFill/>
              </a:ln>
              <a:solidFill>
                <a:srgbClr val="D6DEEB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564E78-B1C6-21C5-807F-D0C594C1CFCD}"/>
              </a:ext>
            </a:extLst>
          </p:cNvPr>
          <p:cNvCxnSpPr>
            <a:cxnSpLocks/>
          </p:cNvCxnSpPr>
          <p:nvPr/>
        </p:nvCxnSpPr>
        <p:spPr>
          <a:xfrm>
            <a:off x="5573487" y="2999013"/>
            <a:ext cx="2449286" cy="1137557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EB75E09-29F3-E1F3-BFFA-8255D147F8EB}"/>
              </a:ext>
            </a:extLst>
          </p:cNvPr>
          <p:cNvCxnSpPr>
            <a:cxnSpLocks/>
          </p:cNvCxnSpPr>
          <p:nvPr/>
        </p:nvCxnSpPr>
        <p:spPr>
          <a:xfrm flipV="1">
            <a:off x="5573487" y="2999013"/>
            <a:ext cx="2449286" cy="1137557"/>
          </a:xfrm>
          <a:prstGeom prst="straightConnector1">
            <a:avLst/>
          </a:prstGeom>
          <a:noFill/>
          <a:ln w="25400">
            <a:solidFill>
              <a:srgbClr val="C792EA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02885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R.I.P. Dennis Ritchie, half of the K&amp;R Bible for C Programming |  Code.DanYork.Com">
            <a:extLst>
              <a:ext uri="{FF2B5EF4-FFF2-40B4-BE49-F238E27FC236}">
                <a16:creationId xmlns:a16="http://schemas.microsoft.com/office/drawing/2014/main" id="{4F618E1B-FB45-AED6-D333-5683F546F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510" y="3541690"/>
            <a:ext cx="1749014" cy="2197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he pragmatic programmer book tips (Part 1) - DEV Community">
            <a:extLst>
              <a:ext uri="{FF2B5EF4-FFF2-40B4-BE49-F238E27FC236}">
                <a16:creationId xmlns:a16="http://schemas.microsoft.com/office/drawing/2014/main" id="{21CC373A-FCCE-5CB4-910E-621E22C7C3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700677" y="3540148"/>
            <a:ext cx="2291099" cy="219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2D4133B-817A-AC8B-DA30-E2773CFC79F5}"/>
              </a:ext>
            </a:extLst>
          </p:cNvPr>
          <p:cNvSpPr/>
          <p:nvPr/>
        </p:nvSpPr>
        <p:spPr>
          <a:xfrm>
            <a:off x="5081789" y="920839"/>
            <a:ext cx="2028423" cy="2028423"/>
          </a:xfrm>
          <a:prstGeom prst="rect">
            <a:avLst/>
          </a:prstGeom>
          <a:noFill/>
          <a:ln w="5080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EC800D0-3506-1B81-EE52-78B4F30D53A1}"/>
              </a:ext>
            </a:extLst>
          </p:cNvPr>
          <p:cNvCxnSpPr>
            <a:cxnSpLocks/>
          </p:cNvCxnSpPr>
          <p:nvPr/>
        </p:nvCxnSpPr>
        <p:spPr>
          <a:xfrm flipV="1">
            <a:off x="3656451" y="1935050"/>
            <a:ext cx="1198884" cy="1381260"/>
          </a:xfrm>
          <a:prstGeom prst="straightConnector1">
            <a:avLst/>
          </a:prstGeom>
          <a:noFill/>
          <a:ln w="508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23C5C4-FCDA-6839-5189-0D5858884BC6}"/>
              </a:ext>
            </a:extLst>
          </p:cNvPr>
          <p:cNvCxnSpPr>
            <a:cxnSpLocks/>
          </p:cNvCxnSpPr>
          <p:nvPr/>
        </p:nvCxnSpPr>
        <p:spPr>
          <a:xfrm flipH="1">
            <a:off x="4855335" y="4639882"/>
            <a:ext cx="2575775" cy="0"/>
          </a:xfrm>
          <a:prstGeom prst="straightConnector1">
            <a:avLst/>
          </a:prstGeom>
          <a:noFill/>
          <a:ln w="508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8CCAC00-416D-DFB3-3951-057CE1CE1D86}"/>
              </a:ext>
            </a:extLst>
          </p:cNvPr>
          <p:cNvCxnSpPr>
            <a:cxnSpLocks/>
          </p:cNvCxnSpPr>
          <p:nvPr/>
        </p:nvCxnSpPr>
        <p:spPr>
          <a:xfrm>
            <a:off x="7480533" y="1935050"/>
            <a:ext cx="1198884" cy="1381260"/>
          </a:xfrm>
          <a:prstGeom prst="straightConnector1">
            <a:avLst/>
          </a:prstGeom>
          <a:noFill/>
          <a:ln w="508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A663124-AFB2-5702-7041-4AF3D9077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3183" y="2080709"/>
            <a:ext cx="139462" cy="54497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500" dirty="0">
                <a:solidFill>
                  <a:srgbClr val="C792EA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1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0E1831-FA17-C198-7579-680F7B8B89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3873" y="4894743"/>
            <a:ext cx="158698" cy="54497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C792EA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68F696-1F62-490F-2162-8A6AC7B80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94148" y="2080709"/>
            <a:ext cx="160300" cy="54497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500" dirty="0">
                <a:solidFill>
                  <a:srgbClr val="C792EA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3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39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02BA45-2475-5BF5-CF63-FC2E44F38B75}"/>
              </a:ext>
            </a:extLst>
          </p:cNvPr>
          <p:cNvSpPr/>
          <p:nvPr/>
        </p:nvSpPr>
        <p:spPr>
          <a:xfrm>
            <a:off x="571500" y="1153887"/>
            <a:ext cx="11049000" cy="455022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019760-9C40-184F-F50D-ADB704F860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5325" y="4315978"/>
            <a:ext cx="8966264" cy="53436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 err="1">
                <a:solidFill>
                  <a:srgbClr val="82AAFF"/>
                </a:solidFill>
                <a:latin typeface="Consolas" panose="020B0609020204030204" pitchFamily="49" charset="0"/>
              </a:rPr>
              <a:t>create_student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Stralian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21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"Haven" 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)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CB092F-526E-5E59-1F84-7B6A22530C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1667" y="2700151"/>
            <a:ext cx="7273493" cy="99603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b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info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[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Stralian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21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"Haven"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info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Stralian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21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"Haven"</a:t>
            </a:r>
            <a:endParaRPr lang="en-US" altLang="en-US" sz="3000" dirty="0">
              <a:solidFill>
                <a:srgbClr val="D6DEEB"/>
              </a:solidFill>
              <a:latin typeface="Consolas" panose="020B060902020403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0181C6-818B-53A6-8BC9-1B4BCE603203}"/>
              </a:ext>
            </a:extLst>
          </p:cNvPr>
          <p:cNvCxnSpPr>
            <a:cxnSpLocks/>
          </p:cNvCxnSpPr>
          <p:nvPr/>
        </p:nvCxnSpPr>
        <p:spPr>
          <a:xfrm>
            <a:off x="6189743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007EDAA-0709-48E4-2428-0F377C356BCD}"/>
              </a:ext>
            </a:extLst>
          </p:cNvPr>
          <p:cNvCxnSpPr>
            <a:cxnSpLocks/>
          </p:cNvCxnSpPr>
          <p:nvPr/>
        </p:nvCxnSpPr>
        <p:spPr>
          <a:xfrm>
            <a:off x="7834612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98DE67-F890-D8A8-DFB2-173A155B0226}"/>
              </a:ext>
            </a:extLst>
          </p:cNvPr>
          <p:cNvCxnSpPr>
            <a:cxnSpLocks/>
          </p:cNvCxnSpPr>
          <p:nvPr/>
        </p:nvCxnSpPr>
        <p:spPr>
          <a:xfrm>
            <a:off x="9232488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12D185C-FB87-5CEA-0316-20B2E8A28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2208" y="4872782"/>
            <a:ext cx="855070" cy="380480"/>
          </a:xfrm>
          <a:prstGeom prst="rect">
            <a:avLst/>
          </a:prstGeom>
          <a:solidFill>
            <a:srgbClr val="505861">
              <a:alpha val="50196"/>
            </a:srgbClr>
          </a:solidFill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NAME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B19AF2-9A37-E76D-4CF3-AA1087603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0161" y="4872782"/>
            <a:ext cx="714005" cy="380480"/>
          </a:xfrm>
          <a:prstGeom prst="rect">
            <a:avLst/>
          </a:prstGeom>
          <a:solidFill>
            <a:srgbClr val="505861">
              <a:alpha val="50196"/>
            </a:srgbClr>
          </a:solidFill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AGE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6F9749-F3AC-9D8D-E5D6-79C861DD6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34422" y="4872782"/>
            <a:ext cx="996135" cy="380480"/>
          </a:xfrm>
          <a:prstGeom prst="rect">
            <a:avLst/>
          </a:prstGeom>
          <a:solidFill>
            <a:srgbClr val="505861">
              <a:alpha val="50196"/>
            </a:srgbClr>
          </a:solidFill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HOUSE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317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B0BF7-2430-D416-792D-48D58FEA7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E9E4F3-41ED-6D57-7376-C34119769CFF}"/>
              </a:ext>
            </a:extLst>
          </p:cNvPr>
          <p:cNvSpPr/>
          <p:nvPr/>
        </p:nvSpPr>
        <p:spPr>
          <a:xfrm>
            <a:off x="571500" y="1153887"/>
            <a:ext cx="11049000" cy="455022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D98F4B-D07C-27EE-0D2D-ADD3615A4B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411" y="4345979"/>
            <a:ext cx="8543072" cy="53436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>
                <a:solidFill>
                  <a:srgbClr val="82AAFF"/>
                </a:solidFill>
                <a:latin typeface="Consolas" panose="020B0609020204030204" pitchFamily="49" charset="0"/>
              </a:rPr>
              <a:t>check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( </a:t>
            </a:r>
            <a:r>
              <a:rPr lang="en-US" altLang="en-US" sz="3000" i="1" dirty="0">
                <a:solidFill>
                  <a:srgbClr val="D6DEEB"/>
                </a:solidFill>
                <a:latin typeface="Consolas" panose="020B0609020204030204" pitchFamily="49" charset="0"/>
              </a:rPr>
              <a:t>data 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False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3000" i="1" dirty="0" err="1">
                <a:solidFill>
                  <a:srgbClr val="D6DEEB"/>
                </a:solidFill>
                <a:latin typeface="Consolas" panose="020B0609020204030204" pitchFamily="49" charset="0"/>
              </a:rPr>
              <a:t>sanitise</a:t>
            </a:r>
            <a:r>
              <a:rPr lang="en-US" altLang="en-US" sz="3000" i="1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)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B4CE1-8C52-4B9D-1123-1DC54EAAA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1162" y="2700151"/>
            <a:ext cx="9601054" cy="99603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b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 config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{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"data"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False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sanitise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config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"data"</a:t>
            </a:r>
            <a:r>
              <a:rPr lang="en-US" altLang="en-US" sz="15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1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False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sanitise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15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1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2D629E-7669-161E-52C1-EC2892858DCE}"/>
              </a:ext>
            </a:extLst>
          </p:cNvPr>
          <p:cNvCxnSpPr>
            <a:cxnSpLocks/>
          </p:cNvCxnSpPr>
          <p:nvPr/>
        </p:nvCxnSpPr>
        <p:spPr>
          <a:xfrm>
            <a:off x="5645457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F4E2726-CBA4-BB2A-937D-9B5FDC894389}"/>
              </a:ext>
            </a:extLst>
          </p:cNvPr>
          <p:cNvCxnSpPr>
            <a:cxnSpLocks/>
          </p:cNvCxnSpPr>
          <p:nvPr/>
        </p:nvCxnSpPr>
        <p:spPr>
          <a:xfrm>
            <a:off x="9635259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170116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4FEF6C-67E6-C189-9DB6-6DDAE36BC162}"/>
              </a:ext>
            </a:extLst>
          </p:cNvPr>
          <p:cNvSpPr/>
          <p:nvPr/>
        </p:nvSpPr>
        <p:spPr>
          <a:xfrm>
            <a:off x="571500" y="1153887"/>
            <a:ext cx="11049000" cy="455022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F8E079-1BAB-A351-D2E3-30DE8E2F2D0D}"/>
              </a:ext>
            </a:extLst>
          </p:cNvPr>
          <p:cNvSpPr/>
          <p:nvPr/>
        </p:nvSpPr>
        <p:spPr>
          <a:xfrm>
            <a:off x="6075553" y="2366327"/>
            <a:ext cx="4611920" cy="406242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1F660-26C6-42FA-E829-60B190BED9A4}"/>
              </a:ext>
            </a:extLst>
          </p:cNvPr>
          <p:cNvSpPr txBox="1"/>
          <p:nvPr/>
        </p:nvSpPr>
        <p:spPr>
          <a:xfrm>
            <a:off x="6169902" y="1954739"/>
            <a:ext cx="4339650" cy="2757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GB" sz="2000" dirty="0">
                <a:solidFill>
                  <a:srgbClr val="7FDBCA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def</a:t>
            </a:r>
            <a:r>
              <a:rPr lang="en-GB" sz="2000" dirty="0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GB" sz="2000" dirty="0">
                <a:solidFill>
                  <a:srgbClr val="82AAFF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decorate</a:t>
            </a:r>
            <a:r>
              <a:rPr lang="en-GB" sz="2000" dirty="0">
                <a:solidFill>
                  <a:srgbClr val="C792EA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(</a:t>
            </a:r>
            <a:r>
              <a:rPr lang="en-GB" sz="2000" dirty="0" err="1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func</a:t>
            </a:r>
            <a:r>
              <a:rPr lang="en-GB" sz="2000" dirty="0">
                <a:solidFill>
                  <a:srgbClr val="C792EA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):</a:t>
            </a:r>
          </a:p>
          <a:p>
            <a:pPr>
              <a:lnSpc>
                <a:spcPct val="125000"/>
              </a:lnSpc>
            </a:pPr>
            <a:r>
              <a:rPr lang="en-GB" sz="2000" dirty="0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    </a:t>
            </a:r>
            <a:r>
              <a:rPr lang="en-GB" sz="2000" dirty="0">
                <a:solidFill>
                  <a:srgbClr val="7FDBCA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def</a:t>
            </a:r>
            <a:r>
              <a:rPr lang="en-GB" sz="2000" dirty="0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GB" sz="2000" dirty="0">
                <a:solidFill>
                  <a:srgbClr val="82AAFF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inner</a:t>
            </a:r>
            <a:r>
              <a:rPr lang="en-GB" sz="2000" dirty="0">
                <a:solidFill>
                  <a:srgbClr val="C792EA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():</a:t>
            </a:r>
          </a:p>
          <a:p>
            <a:pPr>
              <a:lnSpc>
                <a:spcPct val="125000"/>
              </a:lnSpc>
            </a:pPr>
            <a:r>
              <a:rPr lang="en-GB" sz="2000" dirty="0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        </a:t>
            </a:r>
            <a:r>
              <a:rPr lang="en-GB" sz="2000" dirty="0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print("decorating")</a:t>
            </a:r>
          </a:p>
          <a:p>
            <a:pPr>
              <a:lnSpc>
                <a:spcPct val="125000"/>
              </a:lnSpc>
            </a:pPr>
            <a:r>
              <a:rPr lang="en-GB" sz="2000" dirty="0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        </a:t>
            </a:r>
            <a:r>
              <a:rPr lang="en-GB" sz="2000" dirty="0" err="1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func</a:t>
            </a:r>
            <a:r>
              <a:rPr lang="en-GB" sz="2000" dirty="0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  <a:p>
            <a:pPr>
              <a:lnSpc>
                <a:spcPct val="125000"/>
              </a:lnSpc>
            </a:pPr>
            <a:r>
              <a:rPr lang="en-GB" sz="2000" dirty="0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        print("decorated")</a:t>
            </a:r>
          </a:p>
          <a:p>
            <a:pPr>
              <a:lnSpc>
                <a:spcPct val="125000"/>
              </a:lnSpc>
            </a:pPr>
            <a:br>
              <a:rPr lang="en-GB" sz="2000" dirty="0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</a:br>
            <a:r>
              <a:rPr lang="en-GB" sz="2000" dirty="0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    </a:t>
            </a:r>
            <a:r>
              <a:rPr lang="en-GB" sz="2000" dirty="0">
                <a:solidFill>
                  <a:srgbClr val="7FDBCA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return</a:t>
            </a:r>
            <a:r>
              <a:rPr lang="en-GB" sz="2000" dirty="0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GB" sz="2000" dirty="0">
                <a:solidFill>
                  <a:srgbClr val="82AAFF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inner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C4C13-6C51-82F5-B239-E9A4941327EA}"/>
              </a:ext>
            </a:extLst>
          </p:cNvPr>
          <p:cNvSpPr txBox="1"/>
          <p:nvPr/>
        </p:nvSpPr>
        <p:spPr>
          <a:xfrm>
            <a:off x="1504527" y="1954739"/>
            <a:ext cx="3724096" cy="16030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GB" sz="2000" dirty="0">
                <a:solidFill>
                  <a:srgbClr val="7FDBCA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def</a:t>
            </a:r>
            <a:r>
              <a:rPr lang="en-GB" sz="2000" dirty="0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GB" sz="2000" dirty="0">
                <a:solidFill>
                  <a:srgbClr val="82AAFF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decorate</a:t>
            </a:r>
            <a:r>
              <a:rPr lang="en-GB" sz="2000" dirty="0">
                <a:solidFill>
                  <a:srgbClr val="C792EA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(</a:t>
            </a:r>
            <a:r>
              <a:rPr lang="en-GB" sz="2000" dirty="0" err="1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func</a:t>
            </a:r>
            <a:r>
              <a:rPr lang="en-GB" sz="2000" dirty="0">
                <a:solidFill>
                  <a:srgbClr val="C792EA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):</a:t>
            </a:r>
          </a:p>
          <a:p>
            <a:pPr>
              <a:lnSpc>
                <a:spcPct val="125000"/>
              </a:lnSpc>
            </a:pPr>
            <a:r>
              <a:rPr lang="en-GB" sz="2000" dirty="0">
                <a:solidFill>
                  <a:schemeClr val="bg1"/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    </a:t>
            </a:r>
            <a:r>
              <a:rPr lang="en-GB" sz="2000" dirty="0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print("decorating")</a:t>
            </a:r>
          </a:p>
          <a:p>
            <a:pPr>
              <a:lnSpc>
                <a:spcPct val="125000"/>
              </a:lnSpc>
            </a:pPr>
            <a:r>
              <a:rPr lang="en-GB" sz="2000" dirty="0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    </a:t>
            </a:r>
            <a:r>
              <a:rPr lang="en-GB" sz="2000" dirty="0" err="1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func</a:t>
            </a:r>
            <a:r>
              <a:rPr lang="en-GB" sz="2000" dirty="0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  <a:p>
            <a:pPr>
              <a:lnSpc>
                <a:spcPct val="125000"/>
              </a:lnSpc>
            </a:pPr>
            <a:r>
              <a:rPr lang="en-GB" sz="2000" dirty="0">
                <a:solidFill>
                  <a:schemeClr val="bg1">
                    <a:alpha val="40000"/>
                  </a:schemeClr>
                </a:solidFill>
                <a:latin typeface="Fira Mono" panose="020B0509050000020004" pitchFamily="49" charset="0"/>
                <a:ea typeface="Fira Mono" panose="020B0509050000020004" pitchFamily="49" charset="0"/>
              </a:rPr>
              <a:t>    print("decorated")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AC7998-DD5A-2985-17C4-F55B39DD2B88}"/>
              </a:ext>
            </a:extLst>
          </p:cNvPr>
          <p:cNvSpPr/>
          <p:nvPr/>
        </p:nvSpPr>
        <p:spPr>
          <a:xfrm>
            <a:off x="6075553" y="4287656"/>
            <a:ext cx="4611920" cy="406242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CBEFACF-9E2C-410A-AA75-74203F626183}"/>
              </a:ext>
            </a:extLst>
          </p:cNvPr>
          <p:cNvCxnSpPr>
            <a:cxnSpLocks/>
          </p:cNvCxnSpPr>
          <p:nvPr/>
        </p:nvCxnSpPr>
        <p:spPr>
          <a:xfrm>
            <a:off x="5046256" y="4515360"/>
            <a:ext cx="786640" cy="0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EB5FBF9-CFCC-7B37-8B73-E71505FC0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026" y="4127459"/>
            <a:ext cx="2362826" cy="7758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returning a function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instead of executing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D6DEEB"/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947188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0</TotalTime>
  <Words>512</Words>
  <Application>Microsoft Office PowerPoint</Application>
  <PresentationFormat>Widescreen</PresentationFormat>
  <Paragraphs>111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36" baseType="lpstr">
      <vt:lpstr>Arial</vt:lpstr>
      <vt:lpstr>Consolas</vt:lpstr>
      <vt:lpstr>Fira Mono</vt:lpstr>
      <vt:lpstr>Fira Sans</vt:lpstr>
      <vt:lpstr>Geologica Thin</vt:lpstr>
      <vt:lpstr>Montserrat Medium</vt:lpstr>
      <vt:lpstr>Overpass</vt:lpstr>
      <vt:lpstr>Roboto Mono</vt:lpstr>
      <vt:lpstr>Sniglet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2025-04-24T08:28:12Z</dcterms:created>
  <dcterms:modified xsi:type="dcterms:W3CDTF">2025-07-02T09:26:03Z</dcterms:modified>
</cp:coreProperties>
</file>