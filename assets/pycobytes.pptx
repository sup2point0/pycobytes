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</p:sldMasterIdLst>
  <p:sldIdLst>
    <p:sldId id="265" r:id="rId3"/>
    <p:sldId id="257" r:id="rId4"/>
    <p:sldId id="266" r:id="rId5"/>
    <p:sldId id="258" r:id="rId6"/>
    <p:sldId id="261" r:id="rId7"/>
    <p:sldId id="260" r:id="rId8"/>
    <p:sldId id="262" r:id="rId9"/>
    <p:sldId id="259" r:id="rId10"/>
    <p:sldId id="264" r:id="rId11"/>
    <p:sldId id="273" r:id="rId12"/>
    <p:sldId id="263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92EA"/>
    <a:srgbClr val="FFC720"/>
    <a:srgbClr val="D6DEEB"/>
    <a:srgbClr val="FF5874"/>
    <a:srgbClr val="ADDB67"/>
    <a:srgbClr val="1C8CEE"/>
    <a:srgbClr val="9090F1"/>
    <a:srgbClr val="C7F0FF"/>
    <a:srgbClr val="404090"/>
    <a:srgbClr val="258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372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260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082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6900" kern="1200" dirty="0">
          <a:solidFill>
            <a:schemeClr val="bg1"/>
          </a:solidFill>
          <a:latin typeface="Montserrat Medium" panose="00000600000000000000" pitchFamily="2" charset="0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948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561758" rtl="0" eaLnBrk="1" latinLnBrk="0" hangingPunct="1">
        <a:lnSpc>
          <a:spcPct val="90000"/>
        </a:lnSpc>
        <a:spcBef>
          <a:spcPct val="0"/>
        </a:spcBef>
        <a:buNone/>
        <a:defRPr sz="27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440" indent="-140440" algn="l" defTabSz="561758" rtl="0" eaLnBrk="1" latinLnBrk="0" hangingPunct="1">
        <a:lnSpc>
          <a:spcPct val="90000"/>
        </a:lnSpc>
        <a:spcBef>
          <a:spcPts val="615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1pPr>
      <a:lvl2pPr marL="421319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474" kern="1200">
          <a:solidFill>
            <a:schemeClr val="tx1"/>
          </a:solidFill>
          <a:latin typeface="+mn-lt"/>
          <a:ea typeface="+mn-ea"/>
          <a:cs typeface="+mn-cs"/>
        </a:defRPr>
      </a:lvl2pPr>
      <a:lvl3pPr marL="702198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229" kern="1200">
          <a:solidFill>
            <a:schemeClr val="tx1"/>
          </a:solidFill>
          <a:latin typeface="+mn-lt"/>
          <a:ea typeface="+mn-ea"/>
          <a:cs typeface="+mn-cs"/>
        </a:defRPr>
      </a:lvl3pPr>
      <a:lvl4pPr marL="983077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6" kern="1200">
          <a:solidFill>
            <a:schemeClr val="tx1"/>
          </a:solidFill>
          <a:latin typeface="+mn-lt"/>
          <a:ea typeface="+mn-ea"/>
          <a:cs typeface="+mn-cs"/>
        </a:defRPr>
      </a:lvl4pPr>
      <a:lvl5pPr marL="1263956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6" kern="1200">
          <a:solidFill>
            <a:schemeClr val="tx1"/>
          </a:solidFill>
          <a:latin typeface="+mn-lt"/>
          <a:ea typeface="+mn-ea"/>
          <a:cs typeface="+mn-cs"/>
        </a:defRPr>
      </a:lvl5pPr>
      <a:lvl6pPr marL="1544835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6" kern="1200">
          <a:solidFill>
            <a:schemeClr val="tx1"/>
          </a:solidFill>
          <a:latin typeface="+mn-lt"/>
          <a:ea typeface="+mn-ea"/>
          <a:cs typeface="+mn-cs"/>
        </a:defRPr>
      </a:lvl6pPr>
      <a:lvl7pPr marL="1825714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6" kern="1200">
          <a:solidFill>
            <a:schemeClr val="tx1"/>
          </a:solidFill>
          <a:latin typeface="+mn-lt"/>
          <a:ea typeface="+mn-ea"/>
          <a:cs typeface="+mn-cs"/>
        </a:defRPr>
      </a:lvl7pPr>
      <a:lvl8pPr marL="2106593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6" kern="1200">
          <a:solidFill>
            <a:schemeClr val="tx1"/>
          </a:solidFill>
          <a:latin typeface="+mn-lt"/>
          <a:ea typeface="+mn-ea"/>
          <a:cs typeface="+mn-cs"/>
        </a:defRPr>
      </a:lvl8pPr>
      <a:lvl9pPr marL="2387472" indent="-140440" algn="l" defTabSz="561758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1pPr>
      <a:lvl2pPr marL="280879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2pPr>
      <a:lvl3pPr marL="561758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3pPr>
      <a:lvl4pPr marL="842637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4pPr>
      <a:lvl5pPr marL="1123516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5pPr>
      <a:lvl6pPr marL="1404395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6pPr>
      <a:lvl7pPr marL="1685275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7pPr>
      <a:lvl8pPr marL="1966153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8pPr>
      <a:lvl9pPr marL="2247033" algn="l" defTabSz="561758" rtl="0" eaLnBrk="1" latinLnBrk="0" hangingPunct="1">
        <a:defRPr sz="11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873247" y="2284992"/>
            <a:ext cx="2458528" cy="2458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 13"/>
          <p:cNvSpPr/>
          <p:nvPr/>
        </p:nvSpPr>
        <p:spPr>
          <a:xfrm rot="20593713">
            <a:off x="6092658" y="2465297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14"/>
          <p:cNvSpPr/>
          <p:nvPr/>
        </p:nvSpPr>
        <p:spPr>
          <a:xfrm rot="20593713" flipH="1">
            <a:off x="5232370" y="2700780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 rot="20593713">
            <a:off x="5967657" y="2380767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 rot="20593713" flipH="1">
            <a:off x="5149966" y="2627198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rgbClr val="258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5733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/>
          <p:cNvSpPr/>
          <p:nvPr/>
        </p:nvSpPr>
        <p:spPr>
          <a:xfrm rot="20407499">
            <a:off x="6087817" y="2439903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14"/>
          <p:cNvSpPr/>
          <p:nvPr/>
        </p:nvSpPr>
        <p:spPr>
          <a:xfrm rot="20407499" flipH="1">
            <a:off x="5241539" y="2721617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4771846" y="2258643"/>
            <a:ext cx="2458528" cy="2458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reeform 5"/>
          <p:cNvSpPr/>
          <p:nvPr/>
        </p:nvSpPr>
        <p:spPr>
          <a:xfrm rot="20407499">
            <a:off x="5958422" y="2362265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reeform 6"/>
          <p:cNvSpPr/>
          <p:nvPr/>
        </p:nvSpPr>
        <p:spPr>
          <a:xfrm rot="20407499" flipH="1">
            <a:off x="5155274" y="2652605"/>
            <a:ext cx="733246" cy="1687857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rgbClr val="1C8C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9346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312653" y="2290824"/>
            <a:ext cx="9566694" cy="2276353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rgbClr val="40409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838744" y="2342138"/>
            <a:ext cx="2173724" cy="2173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 14"/>
          <p:cNvSpPr/>
          <p:nvPr/>
        </p:nvSpPr>
        <p:spPr>
          <a:xfrm rot="20593713">
            <a:off x="2916894" y="2501556"/>
            <a:ext cx="648304" cy="1492330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 rot="20593713" flipH="1">
            <a:off x="2156265" y="2709760"/>
            <a:ext cx="648304" cy="1492330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/>
        </p:nvSpPr>
        <p:spPr>
          <a:xfrm rot="20593713">
            <a:off x="2806374" y="2426818"/>
            <a:ext cx="648304" cy="1492330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 20"/>
          <p:cNvSpPr/>
          <p:nvPr/>
        </p:nvSpPr>
        <p:spPr>
          <a:xfrm rot="20593713" flipH="1">
            <a:off x="2083407" y="2644702"/>
            <a:ext cx="648304" cy="1492330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rgbClr val="2581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4085326" y="2479058"/>
            <a:ext cx="531587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 err="1">
                <a:gradFill flip="none" rotWithShape="1">
                  <a:gsLst>
                    <a:gs pos="0">
                      <a:srgbClr val="C7F0FF"/>
                    </a:gs>
                    <a:gs pos="95000">
                      <a:srgbClr val="9090F1"/>
                    </a:gs>
                  </a:gsLst>
                  <a:lin ang="10800000" scaled="1"/>
                  <a:tileRect/>
                </a:gradFill>
                <a:latin typeface="Geologica Thin" pitchFamily="2" charset="0"/>
                <a:ea typeface="Roboto Mono" panose="00000009000000000000" pitchFamily="49" charset="0"/>
                <a:cs typeface="Shantell Sans" pitchFamily="2" charset="0"/>
              </a:rPr>
              <a:t>pyco</a:t>
            </a:r>
            <a:r>
              <a:rPr lang="en-GB" sz="8000" dirty="0" err="1">
                <a:solidFill>
                  <a:schemeClr val="bg1">
                    <a:alpha val="31000"/>
                  </a:schemeClr>
                </a:solidFill>
                <a:latin typeface="Geologica Thin" pitchFamily="2" charset="0"/>
                <a:ea typeface="Roboto Mono" panose="00000009000000000000" pitchFamily="49" charset="0"/>
                <a:cs typeface="Shantell Sans" pitchFamily="2" charset="0"/>
              </a:rPr>
              <a:t>:</a:t>
            </a:r>
            <a:r>
              <a:rPr lang="en-GB" sz="8000" dirty="0" err="1">
                <a:gradFill flip="none" rotWithShape="1">
                  <a:gsLst>
                    <a:gs pos="0">
                      <a:srgbClr val="C7F0FF"/>
                    </a:gs>
                    <a:gs pos="95000">
                      <a:srgbClr val="9090F1"/>
                    </a:gs>
                  </a:gsLst>
                  <a:lin ang="10800000" scaled="1"/>
                  <a:tileRect/>
                </a:gradFill>
                <a:latin typeface="Geologica Thin" pitchFamily="2" charset="0"/>
                <a:ea typeface="Roboto Mono" panose="00000009000000000000" pitchFamily="49" charset="0"/>
                <a:cs typeface="Shantell Sans" pitchFamily="2" charset="0"/>
              </a:rPr>
              <a:t>bytes</a:t>
            </a:r>
            <a:endParaRPr lang="en-GB" sz="8000" dirty="0">
              <a:gradFill flip="none" rotWithShape="1">
                <a:gsLst>
                  <a:gs pos="0">
                    <a:srgbClr val="C7F0FF"/>
                  </a:gs>
                  <a:gs pos="95000">
                    <a:srgbClr val="9090F1"/>
                  </a:gs>
                </a:gsLst>
                <a:lin ang="10800000" scaled="1"/>
                <a:tileRect/>
              </a:gradFill>
              <a:latin typeface="Geologica Thin" pitchFamily="2" charset="0"/>
              <a:ea typeface="Roboto Mono" panose="00000009000000000000" pitchFamily="49" charset="0"/>
              <a:cs typeface="Shantell Sans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51274" y="3863332"/>
            <a:ext cx="6372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Overpass" pitchFamily="2" charset="0"/>
              </a:rPr>
              <a:t>exploring the magic of Python, week by week          </a:t>
            </a:r>
            <a:r>
              <a:rPr lang="en-GB" sz="2000" dirty="0">
                <a:solidFill>
                  <a:schemeClr val="accent4"/>
                </a:solidFill>
                <a:latin typeface="Consolas" panose="020B060902020403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423269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312653" y="1388851"/>
            <a:ext cx="9566694" cy="22763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form 9"/>
          <p:cNvSpPr/>
          <p:nvPr/>
        </p:nvSpPr>
        <p:spPr>
          <a:xfrm rot="20407499">
            <a:off x="2901349" y="1535198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 rot="20407499" flipH="1">
            <a:off x="2434847" y="1690490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2175934" y="1435280"/>
            <a:ext cx="1355238" cy="135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 rot="20407499">
            <a:off x="2830022" y="1492401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 rot="20407499" flipH="1">
            <a:off x="2387295" y="1652447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637505" y="1435280"/>
            <a:ext cx="544572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9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pyco</a:t>
            </a:r>
            <a:r>
              <a:rPr lang="en-GB" sz="69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r>
              <a:rPr lang="en-GB" sz="6900" dirty="0" err="1">
                <a:solidFill>
                  <a:srgbClr val="9090F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bytes</a:t>
            </a:r>
            <a:endParaRPr lang="en-GB" sz="6900" dirty="0">
              <a:solidFill>
                <a:srgbClr val="9090F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129" y="2711468"/>
            <a:ext cx="5243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Sniglet" panose="04070505030100020000" pitchFamily="82" charset="0"/>
              </a:rPr>
              <a:t>exploring the magic of Python, week by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2071" y="323059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4"/>
                </a:solidFill>
                <a:latin typeface="Consolas" panose="020B0609020204030204" pitchFamily="49" charset="0"/>
              </a:rPr>
              <a:t>&gt;&gt;&gt;</a:t>
            </a:r>
          </a:p>
        </p:txBody>
      </p:sp>
    </p:spTree>
    <p:extLst>
      <p:ext uri="{BB962C8B-B14F-4D97-AF65-F5344CB8AC3E}">
        <p14:creationId xmlns:p14="http://schemas.microsoft.com/office/powerpoint/2010/main" val="1751028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/>
          <p:cNvSpPr/>
          <p:nvPr/>
        </p:nvSpPr>
        <p:spPr>
          <a:xfrm rot="20407499">
            <a:off x="2901349" y="1535198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/>
          <p:cNvSpPr/>
          <p:nvPr/>
        </p:nvSpPr>
        <p:spPr>
          <a:xfrm rot="20407499" flipH="1">
            <a:off x="2434847" y="1690490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2175934" y="1435280"/>
            <a:ext cx="1355238" cy="135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form 12"/>
          <p:cNvSpPr/>
          <p:nvPr/>
        </p:nvSpPr>
        <p:spPr>
          <a:xfrm rot="20407499">
            <a:off x="2830022" y="1492401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 rot="20407499" flipH="1">
            <a:off x="2387295" y="1652447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637505" y="1435280"/>
            <a:ext cx="544572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9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pyco</a:t>
            </a:r>
            <a:r>
              <a:rPr lang="en-GB" sz="69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r>
              <a:rPr lang="en-GB" sz="6900" dirty="0" err="1">
                <a:solidFill>
                  <a:srgbClr val="9090F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bytes</a:t>
            </a:r>
            <a:endParaRPr lang="en-GB" sz="6900" dirty="0">
              <a:solidFill>
                <a:srgbClr val="9090F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378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312653" y="1043797"/>
            <a:ext cx="9566694" cy="26214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637505" y="1435280"/>
            <a:ext cx="544572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9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pyco</a:t>
            </a:r>
            <a:r>
              <a:rPr lang="en-GB" sz="69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r>
              <a:rPr lang="en-GB" sz="6900" dirty="0" err="1">
                <a:solidFill>
                  <a:srgbClr val="9090F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bytes</a:t>
            </a:r>
            <a:endParaRPr lang="en-GB" sz="6900" dirty="0">
              <a:solidFill>
                <a:srgbClr val="9090F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129" y="2711468"/>
            <a:ext cx="5243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Sniglet" panose="04070505030100020000" pitchFamily="82" charset="0"/>
              </a:rPr>
              <a:t>exploring the magic of Python, week by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2071" y="323059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4"/>
                </a:solidFill>
                <a:latin typeface="Consolas" panose="020B0609020204030204" pitchFamily="49" charset="0"/>
              </a:rPr>
              <a:t>&gt;&gt;&gt;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1821" y="1169855"/>
            <a:ext cx="1728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  <a:latin typeface="+mj-lt"/>
              </a:rPr>
              <a:t>INTRODUCING</a:t>
            </a:r>
          </a:p>
        </p:txBody>
      </p:sp>
      <p:sp>
        <p:nvSpPr>
          <p:cNvPr id="11" name="Freeform 10"/>
          <p:cNvSpPr/>
          <p:nvPr/>
        </p:nvSpPr>
        <p:spPr>
          <a:xfrm rot="20407499">
            <a:off x="2901349" y="1535198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/>
          <p:cNvSpPr/>
          <p:nvPr/>
        </p:nvSpPr>
        <p:spPr>
          <a:xfrm rot="20407499" flipH="1">
            <a:off x="2434847" y="1690490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2175934" y="1435280"/>
            <a:ext cx="1355238" cy="135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 rot="20407499">
            <a:off x="2830022" y="1492401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/>
        </p:nvSpPr>
        <p:spPr>
          <a:xfrm rot="20407499" flipH="1">
            <a:off x="2387295" y="1652447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0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312653" y="1043797"/>
            <a:ext cx="9566694" cy="26214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637505" y="1435280"/>
            <a:ext cx="5445723" cy="11541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69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pyco</a:t>
            </a:r>
            <a:r>
              <a:rPr lang="en-GB" sz="6900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r>
              <a:rPr lang="en-GB" sz="6900" dirty="0" err="1">
                <a:solidFill>
                  <a:srgbClr val="9090F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bytes</a:t>
            </a:r>
            <a:endParaRPr lang="en-GB" sz="6900" dirty="0">
              <a:solidFill>
                <a:srgbClr val="9090F1"/>
              </a:solidFill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129" y="2711468"/>
            <a:ext cx="52437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  <a:latin typeface="Sniglet" panose="04070505030100020000" pitchFamily="82" charset="0"/>
              </a:rPr>
              <a:t>exploring the magic of Python, week by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2071" y="3230590"/>
            <a:ext cx="607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>
                <a:solidFill>
                  <a:schemeClr val="accent4"/>
                </a:solidFill>
                <a:latin typeface="Consolas" panose="020B0609020204030204" pitchFamily="49" charset="0"/>
              </a:rPr>
              <a:t>&gt;&gt;&gt;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6669" y="1169855"/>
            <a:ext cx="1678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600" dirty="0">
                <a:solidFill>
                  <a:schemeClr val="tx2"/>
                </a:solidFill>
                <a:latin typeface="+mj-lt"/>
              </a:rPr>
              <a:t>WELCOME TO</a:t>
            </a:r>
          </a:p>
        </p:txBody>
      </p:sp>
      <p:sp>
        <p:nvSpPr>
          <p:cNvPr id="11" name="Freeform 10"/>
          <p:cNvSpPr/>
          <p:nvPr/>
        </p:nvSpPr>
        <p:spPr>
          <a:xfrm rot="20407499">
            <a:off x="2901349" y="1535198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11"/>
          <p:cNvSpPr/>
          <p:nvPr/>
        </p:nvSpPr>
        <p:spPr>
          <a:xfrm rot="20407499" flipH="1">
            <a:off x="2434847" y="1690490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2175934" y="1435280"/>
            <a:ext cx="1355238" cy="1355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 16"/>
          <p:cNvSpPr/>
          <p:nvPr/>
        </p:nvSpPr>
        <p:spPr>
          <a:xfrm rot="20407499">
            <a:off x="2830022" y="1492401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/>
        </p:nvSpPr>
        <p:spPr>
          <a:xfrm rot="20407499" flipH="1">
            <a:off x="2387295" y="1652447"/>
            <a:ext cx="404194" cy="930414"/>
          </a:xfrm>
          <a:custGeom>
            <a:avLst/>
            <a:gdLst>
              <a:gd name="connsiteX0" fmla="*/ 0 w 966159"/>
              <a:gd name="connsiteY0" fmla="*/ 0 h 2027208"/>
              <a:gd name="connsiteX1" fmla="*/ 0 w 966159"/>
              <a:gd name="connsiteY1" fmla="*/ 1630393 h 2027208"/>
              <a:gd name="connsiteX2" fmla="*/ 966159 w 966159"/>
              <a:gd name="connsiteY2" fmla="*/ 2027208 h 2027208"/>
              <a:gd name="connsiteX3" fmla="*/ 0 w 966159"/>
              <a:gd name="connsiteY3" fmla="*/ 0 h 202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6159" h="2027208">
                <a:moveTo>
                  <a:pt x="0" y="0"/>
                </a:moveTo>
                <a:lnTo>
                  <a:pt x="0" y="1630393"/>
                </a:lnTo>
                <a:lnTo>
                  <a:pt x="966159" y="20272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532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957532" y="2286000"/>
            <a:ext cx="10276936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1130586" y="2397949"/>
            <a:ext cx="1005916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class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 err="1">
                <a:solidFill>
                  <a:srgbClr val="9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Pycobyte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[</a:t>
            </a:r>
            <a:r>
              <a:rPr lang="en-GB" sz="1600" dirty="0">
                <a:solidFill>
                  <a:srgbClr val="9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Fun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]</a:t>
            </a:r>
            <a:r>
              <a:rPr lang="en-GB" sz="1600" dirty="0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endParaRPr lang="en-GB" sz="1600" dirty="0">
              <a:solidFill>
                <a:srgbClr val="FFFFFF"/>
              </a:solidFill>
              <a:latin typeface="Consolas" panose="020B0609020204030204" pitchFamily="49" charset="0"/>
              <a:ea typeface="Roboto Mono" panose="00000009000000000000" pitchFamily="49" charset="0"/>
            </a:endParaRPr>
          </a:p>
          <a:p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    </a:t>
            </a:r>
            <a:r>
              <a:rPr lang="en-GB" sz="1600" dirty="0">
                <a:solidFill>
                  <a:srgbClr val="FFF0C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__slots__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F902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=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[</a:t>
            </a:r>
            <a:r>
              <a:rPr lang="en-GB" sz="1600" dirty="0">
                <a:solidFill>
                  <a:srgbClr val="FFC0A9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"_days"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]</a:t>
            </a:r>
          </a:p>
          <a:p>
            <a:b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</a:b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    </a:t>
            </a:r>
            <a:r>
              <a:rPr lang="en-GB" sz="1600" dirty="0" err="1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async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 err="1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def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F009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__</a:t>
            </a:r>
            <a:r>
              <a:rPr lang="en-GB" sz="1600" dirty="0" err="1">
                <a:solidFill>
                  <a:srgbClr val="FF009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aiter</a:t>
            </a:r>
            <a:r>
              <a:rPr lang="en-GB" sz="1600" dirty="0">
                <a:solidFill>
                  <a:srgbClr val="FF009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__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(</a:t>
            </a:r>
            <a:r>
              <a:rPr lang="en-GB" sz="1600" i="1" dirty="0">
                <a:solidFill>
                  <a:srgbClr val="C7C7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self</a:t>
            </a:r>
            <a:r>
              <a:rPr lang="en-GB" sz="1600" dirty="0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,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F902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/</a:t>
            </a:r>
            <a:r>
              <a:rPr lang="en-GB" sz="1600" dirty="0">
                <a:solidFill>
                  <a:schemeClr val="tx2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,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F902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*</a:t>
            </a:r>
            <a:r>
              <a:rPr lang="en-GB" sz="1600" dirty="0">
                <a:solidFill>
                  <a:schemeClr val="tx2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,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1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flavour</a:t>
            </a:r>
            <a:r>
              <a:rPr lang="en-GB" sz="1600" dirty="0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9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Fun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F902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=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FFC0A9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"Welcome to </a:t>
            </a:r>
            <a:r>
              <a:rPr lang="en-GB" sz="1600" dirty="0" err="1">
                <a:solidFill>
                  <a:srgbClr val="FFC0A9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pycobytes</a:t>
            </a:r>
            <a:r>
              <a:rPr lang="en-GB" sz="1600" dirty="0">
                <a:solidFill>
                  <a:srgbClr val="FFC0A9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!"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) </a:t>
            </a:r>
            <a:r>
              <a:rPr lang="en-GB" sz="1600" dirty="0">
                <a:solidFill>
                  <a:srgbClr val="C1FF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-&gt;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9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Fun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[</a:t>
            </a:r>
            <a:r>
              <a:rPr lang="en-GB" sz="1600" dirty="0">
                <a:solidFill>
                  <a:srgbClr val="9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Fun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]</a:t>
            </a:r>
            <a:r>
              <a:rPr lang="en-GB" sz="1600" dirty="0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endParaRPr lang="en-GB" sz="1600" dirty="0">
              <a:solidFill>
                <a:srgbClr val="FFFFFF"/>
              </a:solidFill>
              <a:latin typeface="Consolas" panose="020B0609020204030204" pitchFamily="49" charset="0"/>
              <a:ea typeface="Roboto Mono" panose="00000009000000000000" pitchFamily="49" charset="0"/>
            </a:endParaRPr>
          </a:p>
          <a:p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        </a:t>
            </a:r>
            <a:r>
              <a:rPr lang="en-GB" sz="1600" dirty="0">
                <a:solidFill>
                  <a:srgbClr val="FFC0A9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'''You’ve never seen Python like this~'''</a:t>
            </a:r>
            <a:endParaRPr lang="en-GB" sz="1600" dirty="0">
              <a:solidFill>
                <a:srgbClr val="FFFFFF"/>
              </a:solidFill>
              <a:latin typeface="Consolas" panose="020B0609020204030204" pitchFamily="49" charset="0"/>
              <a:ea typeface="Roboto Mono" panose="00000009000000000000" pitchFamily="49" charset="0"/>
            </a:endParaRPr>
          </a:p>
          <a:p>
            <a:b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</a:b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        </a:t>
            </a:r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for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i</a:t>
            </a:r>
            <a:r>
              <a:rPr lang="en-GB" sz="1600" dirty="0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,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day </a:t>
            </a:r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in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9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enumerate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(</a:t>
            </a:r>
            <a:r>
              <a:rPr lang="en-GB" sz="1600" i="1" dirty="0" err="1">
                <a:solidFill>
                  <a:srgbClr val="C7C7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self</a:t>
            </a:r>
            <a:r>
              <a:rPr lang="en-GB" sz="1600" dirty="0" err="1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.</a:t>
            </a:r>
            <a:r>
              <a:rPr lang="en-GB" sz="1600" dirty="0" err="1">
                <a:solidFill>
                  <a:srgbClr val="FFF0C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_days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)</a:t>
            </a:r>
            <a:r>
              <a:rPr lang="en-GB" sz="1600" dirty="0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:</a:t>
            </a:r>
            <a:endParaRPr lang="en-GB" sz="1600" dirty="0">
              <a:solidFill>
                <a:srgbClr val="FFFFFF"/>
              </a:solidFill>
              <a:latin typeface="Consolas" panose="020B0609020204030204" pitchFamily="49" charset="0"/>
              <a:ea typeface="Roboto Mono" panose="00000009000000000000" pitchFamily="49" charset="0"/>
            </a:endParaRPr>
          </a:p>
          <a:p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            </a:t>
            </a:r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yield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(</a:t>
            </a:r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await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chemeClr val="accent2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post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(i) </a:t>
            </a:r>
            <a:r>
              <a:rPr lang="en-GB" sz="1600" dirty="0" err="1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async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for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post </a:t>
            </a:r>
            <a:r>
              <a:rPr lang="en-GB" sz="1600" dirty="0">
                <a:solidFill>
                  <a:srgbClr val="4090F1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in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 </a:t>
            </a:r>
            <a:r>
              <a:rPr lang="en-GB" sz="1600" i="1" dirty="0" err="1">
                <a:solidFill>
                  <a:srgbClr val="C7C7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self</a:t>
            </a:r>
            <a:r>
              <a:rPr lang="en-GB" sz="1600" dirty="0" err="1">
                <a:solidFill>
                  <a:srgbClr val="90969E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.</a:t>
            </a:r>
            <a:r>
              <a:rPr lang="en-GB" sz="1600" dirty="0" err="1">
                <a:solidFill>
                  <a:srgbClr val="FF0090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start</a:t>
            </a:r>
            <a:r>
              <a:rPr lang="en-GB" sz="1600" dirty="0">
                <a:solidFill>
                  <a:srgbClr val="FFFFFF"/>
                </a:solidFill>
                <a:latin typeface="Consolas" panose="020B0609020204030204" pitchFamily="49" charset="0"/>
                <a:ea typeface="Roboto Mono" panose="00000009000000000000" pitchFamily="49" charset="0"/>
              </a:rPr>
              <a:t>(day))</a:t>
            </a:r>
            <a:endParaRPr lang="en-GB" sz="1600" b="0" dirty="0">
              <a:solidFill>
                <a:srgbClr val="FFFFFF"/>
              </a:solidFill>
              <a:effectLst/>
              <a:latin typeface="Consolas" panose="020B0609020204030204" pitchFamily="49" charset="0"/>
              <a:ea typeface="Roboto Mono" panose="00000009000000000000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7532" y="4572001"/>
            <a:ext cx="10276936" cy="3364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Sniglet" panose="04070505030100020000" pitchFamily="82" charset="0"/>
                <a:cs typeface="Kalam" panose="02000000000000000000" pitchFamily="2" charset="0"/>
              </a:rPr>
              <a:t>Looks scary, right? Don’t worry, we’ll be delving into all this deliciousness ;D</a:t>
            </a:r>
          </a:p>
        </p:txBody>
      </p:sp>
    </p:spTree>
    <p:extLst>
      <p:ext uri="{BB962C8B-B14F-4D97-AF65-F5344CB8AC3E}">
        <p14:creationId xmlns:p14="http://schemas.microsoft.com/office/powerpoint/2010/main" val="349158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565030"/>
            <a:ext cx="12192000" cy="57279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8" y="1123950"/>
            <a:ext cx="10067925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3C3978-36E4-7FDA-EF59-3713893F8BFB}"/>
              </a:ext>
            </a:extLst>
          </p:cNvPr>
          <p:cNvSpPr/>
          <p:nvPr/>
        </p:nvSpPr>
        <p:spPr>
          <a:xfrm>
            <a:off x="0" y="1055985"/>
            <a:ext cx="12192000" cy="47460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11045B-8590-D897-D5C1-035FE4973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57" y="1575128"/>
            <a:ext cx="10402286" cy="370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73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82800" y="2675467"/>
            <a:ext cx="7128933" cy="3013980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345247" y="2887211"/>
            <a:ext cx="5501506" cy="1083579"/>
          </a:xfrm>
          <a:prstGeom prst="rect">
            <a:avLst/>
          </a:prstGeom>
          <a:solidFill>
            <a:srgbClr val="01162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numbers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C792EA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result.append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F78C6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6" name="Freeform 5"/>
          <p:cNvSpPr/>
          <p:nvPr/>
        </p:nvSpPr>
        <p:spPr>
          <a:xfrm>
            <a:off x="2857948" y="3657600"/>
            <a:ext cx="4897143" cy="1582103"/>
          </a:xfrm>
          <a:custGeom>
            <a:avLst/>
            <a:gdLst>
              <a:gd name="connsiteX0" fmla="*/ 1515533 w 1515533"/>
              <a:gd name="connsiteY0" fmla="*/ 169333 h 452104"/>
              <a:gd name="connsiteX1" fmla="*/ 817033 w 1515533"/>
              <a:gd name="connsiteY1" fmla="*/ 448733 h 452104"/>
              <a:gd name="connsiteX2" fmla="*/ 0 w 1515533"/>
              <a:gd name="connsiteY2" fmla="*/ 0 h 452104"/>
              <a:gd name="connsiteX0" fmla="*/ 1515533 w 1515533"/>
              <a:gd name="connsiteY0" fmla="*/ 169333 h 489618"/>
              <a:gd name="connsiteX1" fmla="*/ 757767 w 1515533"/>
              <a:gd name="connsiteY1" fmla="*/ 486833 h 489618"/>
              <a:gd name="connsiteX2" fmla="*/ 0 w 1515533"/>
              <a:gd name="connsiteY2" fmla="*/ 0 h 489618"/>
              <a:gd name="connsiteX0" fmla="*/ 1515533 w 1515533"/>
              <a:gd name="connsiteY0" fmla="*/ 169333 h 489618"/>
              <a:gd name="connsiteX1" fmla="*/ 757767 w 1515533"/>
              <a:gd name="connsiteY1" fmla="*/ 486833 h 489618"/>
              <a:gd name="connsiteX2" fmla="*/ 0 w 1515533"/>
              <a:gd name="connsiteY2" fmla="*/ 0 h 48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5533" h="489618">
                <a:moveTo>
                  <a:pt x="1515533" y="169333"/>
                </a:moveTo>
                <a:cubicBezTo>
                  <a:pt x="1292577" y="323144"/>
                  <a:pt x="1010356" y="515055"/>
                  <a:pt x="757767" y="486833"/>
                </a:cubicBezTo>
                <a:cubicBezTo>
                  <a:pt x="505178" y="458611"/>
                  <a:pt x="282222" y="320322"/>
                  <a:pt x="0" y="0"/>
                </a:cubicBezTo>
              </a:path>
            </a:pathLst>
          </a:custGeom>
          <a:noFill/>
          <a:ln w="63500">
            <a:solidFill>
              <a:schemeClr val="accent6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7072543" y="4034290"/>
            <a:ext cx="1376276" cy="0"/>
          </a:xfrm>
          <a:prstGeom prst="line">
            <a:avLst/>
          </a:prstGeom>
          <a:ln w="50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903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9EB40-7BD7-5EA3-6BAB-7DBDD4EB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A98CD78-BA73-3A58-64D0-B933FBE7AAE9}"/>
              </a:ext>
            </a:extLst>
          </p:cNvPr>
          <p:cNvSpPr/>
          <p:nvPr/>
        </p:nvSpPr>
        <p:spPr>
          <a:xfrm>
            <a:off x="2541814" y="1660071"/>
            <a:ext cx="7108372" cy="3537858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DBF6DD7-AD0A-F0C9-2D57-2FC76A52DA13}"/>
              </a:ext>
            </a:extLst>
          </p:cNvPr>
          <p:cNvGrpSpPr/>
          <p:nvPr/>
        </p:nvGrpSpPr>
        <p:grpSpPr>
          <a:xfrm>
            <a:off x="3041541" y="2000974"/>
            <a:ext cx="6108918" cy="2856052"/>
            <a:chOff x="3499537" y="2000975"/>
            <a:chExt cx="6108918" cy="285605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5E63874-525B-6665-8B5B-4E280E2244D4}"/>
                </a:ext>
              </a:extLst>
            </p:cNvPr>
            <p:cNvSpPr/>
            <p:nvPr/>
          </p:nvSpPr>
          <p:spPr>
            <a:xfrm>
              <a:off x="6568889" y="2911929"/>
              <a:ext cx="937450" cy="51706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35FC766-5BBE-21EE-CA39-A327D4B7C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4826" y="2000975"/>
              <a:ext cx="2962349" cy="28560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7FDBCA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rPr>
                <a:t>"truthy"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chemeClr val="bg1">
                      <a:alpha val="20000"/>
                    </a:schemeClr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3000" dirty="0">
                  <a:solidFill>
                    <a:srgbClr val="C792EA"/>
                  </a:solidFill>
                  <a:latin typeface="Consolas" panose="020B0609020204030204" pitchFamily="49" charset="0"/>
                </a:rPr>
                <a:t>    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chemeClr val="bg1">
                      <a:alpha val="20000"/>
                    </a:schemeClr>
                  </a:solidFill>
                  <a:effectLst/>
                  <a:latin typeface="Consolas" panose="020B0609020204030204" pitchFamily="49" charset="0"/>
                </a:rPr>
                <a:t>sup = 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F78C6C"/>
                  </a:solidFill>
                  <a:effectLst/>
                  <a:latin typeface="Consolas" panose="020B0609020204030204" pitchFamily="49" charset="0"/>
                </a:rPr>
                <a:t>2.0</a:t>
              </a:r>
              <a:endPara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3000" dirty="0">
                  <a:solidFill>
                    <a:srgbClr val="7FDBCA"/>
                  </a:solidFill>
                  <a:latin typeface="Consolas" panose="020B0609020204030204" pitchFamily="49" charset="0"/>
                </a:rPr>
                <a:t>else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3000" dirty="0">
                  <a:solidFill>
                    <a:srgbClr val="C792EA"/>
                  </a:solidFill>
                  <a:latin typeface="Consolas" panose="020B0609020204030204" pitchFamily="49" charset="0"/>
                </a:rPr>
                <a:t>    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chemeClr val="bg1">
                      <a:alpha val="20000"/>
                    </a:schemeClr>
                  </a:solidFill>
                  <a:effectLst/>
                  <a:latin typeface="Consolas" panose="020B0609020204030204" pitchFamily="49" charset="0"/>
                </a:rPr>
                <a:t>sup = 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FF5874"/>
                  </a:solidFill>
                  <a:effectLst/>
                  <a:latin typeface="Consolas" panose="020B0609020204030204" pitchFamily="49" charset="0"/>
                </a:rPr>
                <a:t>None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2733816-44A7-2260-6233-72C3754D69F3}"/>
                </a:ext>
              </a:extLst>
            </p:cNvPr>
            <p:cNvSpPr/>
            <p:nvPr/>
          </p:nvSpPr>
          <p:spPr>
            <a:xfrm>
              <a:off x="4478447" y="3606273"/>
              <a:ext cx="1265530" cy="51706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Free-form: Shape 39">
              <a:extLst>
                <a:ext uri="{FF2B5EF4-FFF2-40B4-BE49-F238E27FC236}">
                  <a16:creationId xmlns:a16="http://schemas.microsoft.com/office/drawing/2014/main" id="{BFEEC321-ADA5-AE19-2E57-82D95F1002E1}"/>
                </a:ext>
              </a:extLst>
            </p:cNvPr>
            <p:cNvSpPr/>
            <p:nvPr/>
          </p:nvSpPr>
          <p:spPr>
            <a:xfrm>
              <a:off x="5763296" y="2762518"/>
              <a:ext cx="2145817" cy="1120462"/>
            </a:xfrm>
            <a:custGeom>
              <a:avLst/>
              <a:gdLst>
                <a:gd name="connsiteX0" fmla="*/ 0 w 2546468"/>
                <a:gd name="connsiteY0" fmla="*/ 1770845 h 1770845"/>
                <a:gd name="connsiteX1" fmla="*/ 2273121 w 2546468"/>
                <a:gd name="connsiteY1" fmla="*/ 1358721 h 1770845"/>
                <a:gd name="connsiteX2" fmla="*/ 2421228 w 2546468"/>
                <a:gd name="connsiteY2" fmla="*/ 0 h 177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46468" h="1770845">
                  <a:moveTo>
                    <a:pt x="0" y="1770845"/>
                  </a:moveTo>
                  <a:cubicBezTo>
                    <a:pt x="934791" y="1712353"/>
                    <a:pt x="1869583" y="1653862"/>
                    <a:pt x="2273121" y="1358721"/>
                  </a:cubicBezTo>
                  <a:cubicBezTo>
                    <a:pt x="2676659" y="1063580"/>
                    <a:pt x="2548943" y="531790"/>
                    <a:pt x="2421228" y="0"/>
                  </a:cubicBezTo>
                </a:path>
              </a:pathLst>
            </a:cu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0802A36-CD80-BCD9-7E3C-6418BA3B78D6}"/>
                </a:ext>
              </a:extLst>
            </p:cNvPr>
            <p:cNvSpPr/>
            <p:nvPr/>
          </p:nvSpPr>
          <p:spPr>
            <a:xfrm>
              <a:off x="6588206" y="4278027"/>
              <a:ext cx="1071024" cy="51706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Free-form: Shape 41">
              <a:extLst>
                <a:ext uri="{FF2B5EF4-FFF2-40B4-BE49-F238E27FC236}">
                  <a16:creationId xmlns:a16="http://schemas.microsoft.com/office/drawing/2014/main" id="{3430CBBC-2C92-C1C1-5E73-1E62357B515C}"/>
                </a:ext>
              </a:extLst>
            </p:cNvPr>
            <p:cNvSpPr/>
            <p:nvPr/>
          </p:nvSpPr>
          <p:spPr>
            <a:xfrm>
              <a:off x="7714445" y="2762518"/>
              <a:ext cx="1263822" cy="1796603"/>
            </a:xfrm>
            <a:custGeom>
              <a:avLst/>
              <a:gdLst>
                <a:gd name="connsiteX0" fmla="*/ 0 w 1263822"/>
                <a:gd name="connsiteY0" fmla="*/ 2453425 h 2453425"/>
                <a:gd name="connsiteX1" fmla="*/ 1062507 w 1263822"/>
                <a:gd name="connsiteY1" fmla="*/ 1313645 h 2453425"/>
                <a:gd name="connsiteX2" fmla="*/ 1262130 w 1263822"/>
                <a:gd name="connsiteY2" fmla="*/ 0 h 245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3822" h="2453425">
                  <a:moveTo>
                    <a:pt x="0" y="2453425"/>
                  </a:moveTo>
                  <a:cubicBezTo>
                    <a:pt x="426076" y="2087987"/>
                    <a:pt x="852152" y="1722549"/>
                    <a:pt x="1062507" y="1313645"/>
                  </a:cubicBezTo>
                  <a:cubicBezTo>
                    <a:pt x="1272862" y="904741"/>
                    <a:pt x="1267496" y="452370"/>
                    <a:pt x="1262130" y="0"/>
                  </a:cubicBezTo>
                </a:path>
              </a:pathLst>
            </a:cu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9C1E141-7A96-4E46-BEB0-18D6D9B30317}"/>
                </a:ext>
              </a:extLst>
            </p:cNvPr>
            <p:cNvSpPr/>
            <p:nvPr/>
          </p:nvSpPr>
          <p:spPr>
            <a:xfrm>
              <a:off x="7178160" y="2247442"/>
              <a:ext cx="1265530" cy="517060"/>
            </a:xfrm>
            <a:prstGeom prst="rect">
              <a:avLst/>
            </a:prstGeom>
            <a:solidFill>
              <a:srgbClr val="FFC72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FC72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89474F9-D9A8-371B-16BE-0062BE51BEAC}"/>
                </a:ext>
              </a:extLst>
            </p:cNvPr>
            <p:cNvSpPr/>
            <p:nvPr/>
          </p:nvSpPr>
          <p:spPr>
            <a:xfrm>
              <a:off x="8537431" y="2247442"/>
              <a:ext cx="1071024" cy="517060"/>
            </a:xfrm>
            <a:prstGeom prst="rect">
              <a:avLst/>
            </a:prstGeom>
            <a:solidFill>
              <a:srgbClr val="FFC72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FC720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6AB0D66-F8E2-9532-5161-36F09593BB95}"/>
                </a:ext>
              </a:extLst>
            </p:cNvPr>
            <p:cNvSpPr/>
            <p:nvPr/>
          </p:nvSpPr>
          <p:spPr>
            <a:xfrm>
              <a:off x="3499537" y="2247442"/>
              <a:ext cx="937450" cy="517060"/>
            </a:xfrm>
            <a:prstGeom prst="rect">
              <a:avLst/>
            </a:prstGeom>
            <a:solidFill>
              <a:srgbClr val="FFC720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FFC720"/>
                </a:solidFill>
              </a:endParaRPr>
            </a:p>
          </p:txBody>
        </p:sp>
        <p:sp>
          <p:nvSpPr>
            <p:cNvPr id="46" name="Free-form: Shape 45">
              <a:extLst>
                <a:ext uri="{FF2B5EF4-FFF2-40B4-BE49-F238E27FC236}">
                  <a16:creationId xmlns:a16="http://schemas.microsoft.com/office/drawing/2014/main" id="{122F5CF7-B6A6-B6C3-B860-5DF8AFB2C1B4}"/>
                </a:ext>
              </a:extLst>
            </p:cNvPr>
            <p:cNvSpPr/>
            <p:nvPr/>
          </p:nvSpPr>
          <p:spPr>
            <a:xfrm>
              <a:off x="4076163" y="2865549"/>
              <a:ext cx="2479183" cy="380665"/>
            </a:xfrm>
            <a:custGeom>
              <a:avLst/>
              <a:gdLst>
                <a:gd name="connsiteX0" fmla="*/ 2479183 w 2479183"/>
                <a:gd name="connsiteY0" fmla="*/ 302654 h 380665"/>
                <a:gd name="connsiteX1" fmla="*/ 798491 w 2479183"/>
                <a:gd name="connsiteY1" fmla="*/ 360609 h 380665"/>
                <a:gd name="connsiteX2" fmla="*/ 0 w 2479183"/>
                <a:gd name="connsiteY2" fmla="*/ 0 h 38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9183" h="380665">
                  <a:moveTo>
                    <a:pt x="2479183" y="302654"/>
                  </a:moveTo>
                  <a:cubicBezTo>
                    <a:pt x="1845435" y="356852"/>
                    <a:pt x="1211688" y="411051"/>
                    <a:pt x="798491" y="360609"/>
                  </a:cubicBezTo>
                  <a:cubicBezTo>
                    <a:pt x="385294" y="310167"/>
                    <a:pt x="192647" y="155083"/>
                    <a:pt x="0" y="0"/>
                  </a:cubicBezTo>
                </a:path>
              </a:pathLst>
            </a:cu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26967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576E-EF2C-5DC6-C493-2B734D52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6D099F-9613-C736-C6B2-796449EFF53A}"/>
              </a:ext>
            </a:extLst>
          </p:cNvPr>
          <p:cNvSpPr/>
          <p:nvPr/>
        </p:nvSpPr>
        <p:spPr>
          <a:xfrm>
            <a:off x="1953986" y="1970315"/>
            <a:ext cx="8284028" cy="2917372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3A7AA-9D8E-B1FD-97E6-08E92DEA935A}"/>
              </a:ext>
            </a:extLst>
          </p:cNvPr>
          <p:cNvGrpSpPr/>
          <p:nvPr/>
        </p:nvGrpSpPr>
        <p:grpSpPr>
          <a:xfrm>
            <a:off x="2597276" y="2171358"/>
            <a:ext cx="6997448" cy="2515285"/>
            <a:chOff x="2679719" y="3118042"/>
            <a:chExt cx="6997448" cy="251528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B22D764-339B-B259-27F1-C96FA5BF2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3651" y="3118042"/>
              <a:ext cx="5924699" cy="62191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left 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7FDBCA"/>
                  </a:solidFill>
                  <a:effectLst/>
                  <a:latin typeface="Consolas" panose="020B0609020204030204" pitchFamily="49" charset="0"/>
                </a:rPr>
                <a:t>if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condition</a:t>
              </a:r>
              <a:r>
                <a:rPr kumimoji="0" lang="en-US" altLang="en-US" sz="3000" b="0" i="0" u="none" strike="noStrike" cap="none" normalizeH="0" baseline="0" dirty="0">
                  <a:ln>
                    <a:noFill/>
                  </a:ln>
                  <a:solidFill>
                    <a:srgbClr val="7FDBCA"/>
                  </a:solidFill>
                  <a:effectLst/>
                  <a:latin typeface="Consolas" panose="020B0609020204030204" pitchFamily="49" charset="0"/>
                </a:rPr>
                <a:t> else</a:t>
              </a:r>
              <a:r>
                <a:rPr lang="en-US" altLang="en-US" sz="3000" dirty="0">
                  <a:solidFill>
                    <a:schemeClr val="tx2">
                      <a:lumMod val="7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en-US" sz="3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right</a:t>
              </a:r>
              <a:endPara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4CEA163-C854-42CC-7428-48A4C8AD06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03171" y="4027714"/>
              <a:ext cx="0" cy="1061328"/>
            </a:xfrm>
            <a:prstGeom prst="straightConnector1">
              <a:avLst/>
            </a:pr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9C68A2-7BA5-75B7-7D04-A0F2AC205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719" y="5165301"/>
              <a:ext cx="3468898" cy="4680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returned if condition is truthy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0A46631-72D0-76EC-6958-94B66221D0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2628" y="4027714"/>
              <a:ext cx="0" cy="560615"/>
            </a:xfrm>
            <a:prstGeom prst="straightConnector1">
              <a:avLst/>
            </a:pr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EFF66B3-BFF7-D412-63A6-77FDB5D56F1F}"/>
                </a:ext>
              </a:extLst>
            </p:cNvPr>
            <p:cNvCxnSpPr>
              <a:cxnSpLocks/>
            </p:cNvCxnSpPr>
            <p:nvPr/>
          </p:nvCxnSpPr>
          <p:spPr>
            <a:xfrm>
              <a:off x="3215142" y="3816575"/>
              <a:ext cx="754285" cy="0"/>
            </a:xfrm>
            <a:prstGeom prst="line">
              <a:avLst/>
            </a:prstGeom>
            <a:ln w="508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6FD2172-2051-1365-8E2B-CBAB9F90C0D1}"/>
                </a:ext>
              </a:extLst>
            </p:cNvPr>
            <p:cNvCxnSpPr>
              <a:cxnSpLocks/>
            </p:cNvCxnSpPr>
            <p:nvPr/>
          </p:nvCxnSpPr>
          <p:spPr>
            <a:xfrm>
              <a:off x="8021185" y="3816575"/>
              <a:ext cx="937758" cy="0"/>
            </a:xfrm>
            <a:prstGeom prst="line">
              <a:avLst/>
            </a:prstGeom>
            <a:ln w="508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DCC9AD5-EA23-360C-D9E0-915B5FC96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1775" y="4621016"/>
              <a:ext cx="3305392" cy="4680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returned if condition is 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falsy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693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7D6F1-CE7A-F7C6-9206-A22724C87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8689B2-FCF8-1354-A0E0-B05EB391CF9C}"/>
              </a:ext>
            </a:extLst>
          </p:cNvPr>
          <p:cNvSpPr/>
          <p:nvPr/>
        </p:nvSpPr>
        <p:spPr>
          <a:xfrm>
            <a:off x="2884039" y="2393206"/>
            <a:ext cx="6423922" cy="2071588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920EAE-5359-93CD-5857-CB2DC1B0A94C}"/>
              </a:ext>
            </a:extLst>
          </p:cNvPr>
          <p:cNvSpPr/>
          <p:nvPr/>
        </p:nvSpPr>
        <p:spPr>
          <a:xfrm>
            <a:off x="3650807" y="2803849"/>
            <a:ext cx="4906716" cy="664028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B6C5C4-F997-F117-77A2-40F75A344C14}"/>
              </a:ext>
            </a:extLst>
          </p:cNvPr>
          <p:cNvSpPr/>
          <p:nvPr/>
        </p:nvSpPr>
        <p:spPr>
          <a:xfrm>
            <a:off x="5902610" y="2844068"/>
            <a:ext cx="2591851" cy="583590"/>
          </a:xfrm>
          <a:prstGeom prst="rect">
            <a:avLst/>
          </a:prstGeom>
          <a:solidFill>
            <a:srgbClr val="FFC72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A04919-6AF6-65E2-D678-81918FE25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2103" y="2876515"/>
            <a:ext cx="4587794" cy="52958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 else</a:t>
            </a:r>
            <a:r>
              <a:rPr lang="en-US" altLang="en-US" sz="24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2400" dirty="0">
                <a:solidFill>
                  <a:srgbClr val="D6DEEB"/>
                </a:solidFill>
                <a:latin typeface="Consolas" panose="020B0609020204030204" pitchFamily="49" charset="0"/>
              </a:rPr>
              <a:t>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 else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1BF921-3BFE-3326-8504-703464CF4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3399" y="3706615"/>
            <a:ext cx="4485202" cy="4680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rPr>
              <a:t>conditional nested inside conditional!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Fira Sans" panose="020B0503050000020004" pitchFamily="34" charset="0"/>
              <a:ea typeface="Fira Mono" panose="020B05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1499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72C8-B991-8D4A-BFEE-F8B96ED2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5232A56-72B5-F3B8-1011-9739CB695EBC}"/>
              </a:ext>
            </a:extLst>
          </p:cNvPr>
          <p:cNvSpPr/>
          <p:nvPr/>
        </p:nvSpPr>
        <p:spPr>
          <a:xfrm>
            <a:off x="1953986" y="1970313"/>
            <a:ext cx="8284028" cy="3026229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FC0FAF3-37DF-5558-C091-0DE19413E45E}"/>
              </a:ext>
            </a:extLst>
          </p:cNvPr>
          <p:cNvGrpSpPr/>
          <p:nvPr/>
        </p:nvGrpSpPr>
        <p:grpSpPr>
          <a:xfrm>
            <a:off x="2597276" y="2168066"/>
            <a:ext cx="7010499" cy="2521868"/>
            <a:chOff x="2597276" y="2168066"/>
            <a:chExt cx="7010499" cy="25218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97AABA-5543-0AE6-58F1-D5BA0CF55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975" y="2168066"/>
              <a:ext cx="2115964" cy="9296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or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rPr>
                <a:t>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B27E3BB-EE7A-9408-52A5-3596D8E885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9299" y="3150403"/>
              <a:ext cx="0" cy="695940"/>
            </a:xfrm>
            <a:prstGeom prst="straightConnector1">
              <a:avLst/>
            </a:pr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1A71F8-67BA-8161-C7AC-C4FFE8106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7276" y="3914131"/>
              <a:ext cx="2778005" cy="77580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FFC720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x is truthy, so the whole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FFC720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expression is truthy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531658-A2FD-3150-7C62-F7073F1C6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2771" y="3914131"/>
              <a:ext cx="3525004" cy="4680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what y is makes no difference!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65FF70E-B363-4F88-747D-4ABA821758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6070" y="3150403"/>
              <a:ext cx="0" cy="695940"/>
            </a:xfrm>
            <a:prstGeom prst="straightConnector1">
              <a:avLst/>
            </a:pr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5598775-A9C1-BBDD-A97D-9ED9F0FD5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2589" y="2168066"/>
              <a:ext cx="2115964" cy="9296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or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FF5874"/>
                  </a:solidFill>
                  <a:effectLst/>
                  <a:latin typeface="Consolas" panose="020B0609020204030204" pitchFamily="49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6367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B9FE-EFC6-7F38-E2C0-AEEBDCB3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EFD39A-37BA-56F9-C0C5-024D05CFCCAA}"/>
              </a:ext>
            </a:extLst>
          </p:cNvPr>
          <p:cNvSpPr/>
          <p:nvPr/>
        </p:nvSpPr>
        <p:spPr>
          <a:xfrm>
            <a:off x="1953986" y="1970313"/>
            <a:ext cx="8284028" cy="3026229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F6B7372-AB78-FB4C-9C58-7661A566907B}"/>
              </a:ext>
            </a:extLst>
          </p:cNvPr>
          <p:cNvGrpSpPr/>
          <p:nvPr/>
        </p:nvGrpSpPr>
        <p:grpSpPr>
          <a:xfrm>
            <a:off x="2789118" y="2168066"/>
            <a:ext cx="6613764" cy="2521868"/>
            <a:chOff x="2926457" y="2168066"/>
            <a:chExt cx="6613764" cy="252186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1D9488A-2CB0-5A21-8A43-A2AD54294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975" y="2168066"/>
              <a:ext cx="2115964" cy="9296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FF5874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or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rPr>
                <a:t>y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3497053-D709-20C4-0986-C32F6CF87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7342" y="3150403"/>
              <a:ext cx="0" cy="695940"/>
            </a:xfrm>
            <a:prstGeom prst="straightConnector1">
              <a:avLst/>
            </a:pr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2A2765-D319-204B-E410-BE399B1901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6457" y="3914131"/>
              <a:ext cx="2669000" cy="77580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000" dirty="0">
                  <a:solidFill>
                    <a:srgbClr val="D6DEEB"/>
                  </a:solidFill>
                  <a:latin typeface="Fira Sans" panose="020B0503050000020004" pitchFamily="34" charset="0"/>
                  <a:ea typeface="Fira Mono" panose="020B0509050000020004" pitchFamily="49" charset="0"/>
                </a:rPr>
                <a:t>if y is truthy, 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the whole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expression is truthy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87113C-F05E-741E-7C9D-3079B5417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4728" y="3914130"/>
              <a:ext cx="2505493" cy="77580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if y is 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falsy</a:t>
              </a: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, the whole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expression is </a:t>
              </a:r>
              <a:r>
                <a:rPr kumimoji="0" lang="en-US" altLang="en-US" sz="2000" b="0" i="0" u="none" strike="noStrike" cap="none" normalizeH="0" baseline="0" dirty="0" err="1">
                  <a:ln>
                    <a:noFill/>
                  </a:ln>
                  <a:solidFill>
                    <a:srgbClr val="D6DEEB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falsy</a:t>
              </a:r>
              <a:endPara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3CC74C3-4C75-02D2-DFA0-776288E76D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6070" y="3150403"/>
              <a:ext cx="0" cy="695940"/>
            </a:xfrm>
            <a:prstGeom prst="straightConnector1">
              <a:avLst/>
            </a:prstGeom>
            <a:noFill/>
            <a:ln w="25400">
              <a:solidFill>
                <a:srgbClr val="FFC720"/>
              </a:solidFill>
              <a:tailEnd type="arrow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E93A6E5-E4F7-F7D6-D79C-57897B0D0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2589" y="2168066"/>
              <a:ext cx="2115964" cy="9296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FF5874"/>
                  </a:solidFill>
                  <a:effectLst/>
                  <a:latin typeface="Consolas" panose="020B0609020204030204" pitchFamily="49" charset="0"/>
                </a:rPr>
                <a:t>x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or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FF5874"/>
                  </a:solidFill>
                  <a:effectLst/>
                  <a:latin typeface="Consolas" panose="020B0609020204030204" pitchFamily="49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1011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F1C9B-3E47-4006-4866-51A69258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344137-8A80-E122-41B1-E87FAF0785B9}"/>
              </a:ext>
            </a:extLst>
          </p:cNvPr>
          <p:cNvSpPr/>
          <p:nvPr/>
        </p:nvSpPr>
        <p:spPr>
          <a:xfrm>
            <a:off x="1953986" y="1970313"/>
            <a:ext cx="8284028" cy="3026229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559D9D-E01C-D1E9-9D66-50C5307CA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1228" y="3095525"/>
            <a:ext cx="3359894" cy="77580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rPr>
              <a:t>if either expression is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D6DEEB"/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rPr>
              <a:t>falsy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rPr>
              <a:t>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D6DEEB"/>
                </a:solidFill>
                <a:latin typeface="Fira Sans" panose="020B0503050000020004" pitchFamily="34" charset="0"/>
                <a:ea typeface="Fira Mono" panose="020B0509050000020004" pitchFamily="49" charset="0"/>
              </a:rPr>
              <a:t>the whole expression is </a:t>
            </a:r>
            <a:r>
              <a:rPr lang="en-US" altLang="en-US" sz="2000" dirty="0" err="1">
                <a:solidFill>
                  <a:srgbClr val="D6DEEB"/>
                </a:solidFill>
                <a:latin typeface="Fira Sans" panose="020B0503050000020004" pitchFamily="34" charset="0"/>
                <a:ea typeface="Fira Mono" panose="020B0509050000020004" pitchFamily="49" charset="0"/>
              </a:rPr>
              <a:t>falsy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Fira Sans" panose="020B0503050000020004" pitchFamily="34" charset="0"/>
              <a:ea typeface="Fira Mono" panose="020B050905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B9346E-0C1A-3B88-E42A-1281C97F3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66" y="2428033"/>
            <a:ext cx="2468625" cy="9296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FF5874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and</a:t>
            </a: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8BBE4F-C735-860E-9529-DF4413BE5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966" y="3500276"/>
            <a:ext cx="2468625" cy="9296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ADDB67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and</a:t>
            </a: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FF5874"/>
                </a:solidFill>
                <a:effectLst/>
                <a:latin typeface="Consolas" panose="020B0609020204030204" pitchFamily="49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98507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5482E-7207-8FBC-A43E-84BDBDE3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55BB52-B8CB-07AF-7A16-DD808874841A}"/>
              </a:ext>
            </a:extLst>
          </p:cNvPr>
          <p:cNvSpPr/>
          <p:nvPr/>
        </p:nvSpPr>
        <p:spPr>
          <a:xfrm>
            <a:off x="2459115" y="2035628"/>
            <a:ext cx="7273770" cy="2786744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46636B-FF46-F9BB-DB0C-189010801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0445" y="2664797"/>
            <a:ext cx="5931111" cy="9296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5000" dirty="0">
                <a:solidFill>
                  <a:srgbClr val="FF5874"/>
                </a:solidFill>
                <a:latin typeface="Consolas" panose="020B0609020204030204" pitchFamily="49" charset="0"/>
              </a:rPr>
              <a:t>▯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>
                <a:solidFill>
                  <a:srgbClr val="D6DEEB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5000" dirty="0">
                <a:solidFill>
                  <a:srgbClr val="FF5874"/>
                </a:solidFill>
                <a:latin typeface="Consolas" panose="020B0609020204030204" pitchFamily="49" charset="0"/>
              </a:rPr>
              <a:t>▯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>
                <a:solidFill>
                  <a:srgbClr val="D6DEEB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5000" dirty="0">
                <a:solidFill>
                  <a:srgbClr val="FF5874"/>
                </a:solidFill>
                <a:latin typeface="Consolas" panose="020B0609020204030204" pitchFamily="49" charset="0"/>
              </a:rPr>
              <a:t>▯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>
                <a:solidFill>
                  <a:srgbClr val="D6DEEB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5000" dirty="0">
                <a:solidFill>
                  <a:srgbClr val="FF5874"/>
                </a:solidFill>
                <a:latin typeface="Consolas" panose="020B0609020204030204" pitchFamily="49" charset="0"/>
              </a:rPr>
              <a:t>▯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2500" dirty="0">
                <a:solidFill>
                  <a:srgbClr val="D6DEEB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5000" dirty="0">
                <a:solidFill>
                  <a:srgbClr val="FF5874"/>
                </a:solidFill>
                <a:latin typeface="Consolas" panose="020B0609020204030204" pitchFamily="49" charset="0"/>
              </a:rPr>
              <a:t>▯</a:t>
            </a: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]</a:t>
            </a:r>
            <a:endParaRPr kumimoji="0" lang="en-US" altLang="en-US" sz="5000" b="0" i="0" u="none" strike="noStrike" cap="none" normalizeH="0" baseline="0" dirty="0">
              <a:ln>
                <a:noFill/>
              </a:ln>
              <a:solidFill>
                <a:srgbClr val="ADDB67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DFDB463-EB12-7235-1162-8FB0518D89F8}"/>
              </a:ext>
            </a:extLst>
          </p:cNvPr>
          <p:cNvGrpSpPr/>
          <p:nvPr/>
        </p:nvGrpSpPr>
        <p:grpSpPr>
          <a:xfrm>
            <a:off x="3729220" y="2301581"/>
            <a:ext cx="4739056" cy="544971"/>
            <a:chOff x="3729220" y="2446925"/>
            <a:chExt cx="4739056" cy="54497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299A68-A424-65B9-A042-247E074F6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9220" y="2446925"/>
              <a:ext cx="176330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D6DEEB">
                      <a:alpha val="50000"/>
                    </a:srgbClr>
                  </a:solidFill>
                  <a:effectLst/>
                  <a:latin typeface="Consolas" panose="020B0609020204030204" pitchFamily="49" charset="0"/>
                </a:rPr>
                <a:t>0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EDCAF8-211D-53B6-48C3-F3DC768A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343" y="2446925"/>
              <a:ext cx="176330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500" dirty="0">
                  <a:solidFill>
                    <a:srgbClr val="D6DEEB">
                      <a:alpha val="50000"/>
                    </a:srgbClr>
                  </a:solidFill>
                  <a:latin typeface="Consolas" panose="020B0609020204030204" pitchFamily="49" charset="0"/>
                </a:rPr>
                <a:t>1</a:t>
              </a:r>
              <a:endPara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D6DEEB">
                    <a:alpha val="50000"/>
                  </a:srgbClr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1D153A-E0DB-6CEC-3E48-A171F1484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7834" y="2446925"/>
              <a:ext cx="176330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D6DEEB">
                      <a:alpha val="50000"/>
                    </a:srgbClr>
                  </a:solidFill>
                  <a:effectLst/>
                  <a:latin typeface="Consolas" panose="020B0609020204030204" pitchFamily="49" charset="0"/>
                </a:rPr>
                <a:t>2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FB688-7585-EAC4-D573-ACACF5E70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6653" y="2446925"/>
              <a:ext cx="176330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500" dirty="0">
                  <a:solidFill>
                    <a:srgbClr val="D6DEEB">
                      <a:alpha val="50000"/>
                    </a:srgbClr>
                  </a:solidFill>
                  <a:latin typeface="Consolas" panose="020B0609020204030204" pitchFamily="49" charset="0"/>
                </a:rPr>
                <a:t>3</a:t>
              </a:r>
              <a:endPara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D6DEEB">
                    <a:alpha val="50000"/>
                  </a:srgbClr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626DD76-0B15-4C75-BD32-F3ADA7836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1946" y="2446925"/>
              <a:ext cx="176330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D6DEEB">
                      <a:alpha val="50000"/>
                    </a:srgbClr>
                  </a:solidFill>
                  <a:effectLst/>
                  <a:latin typeface="Consolas" panose="020B0609020204030204" pitchFamily="49" charset="0"/>
                </a:rPr>
                <a:t>4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80D2C04-74E5-34EB-9B3D-D269D3587A06}"/>
              </a:ext>
            </a:extLst>
          </p:cNvPr>
          <p:cNvGrpSpPr/>
          <p:nvPr/>
        </p:nvGrpSpPr>
        <p:grpSpPr>
          <a:xfrm>
            <a:off x="3641055" y="3512159"/>
            <a:ext cx="4915387" cy="544971"/>
            <a:chOff x="3641055" y="4009262"/>
            <a:chExt cx="4915387" cy="54497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E5D8236-BD76-E420-BBCC-EF52B682A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055" y="4009262"/>
              <a:ext cx="352661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FFC720"/>
                  </a:solidFill>
                  <a:effectLst/>
                  <a:latin typeface="Consolas" panose="020B0609020204030204" pitchFamily="49" charset="0"/>
                </a:rPr>
                <a:t>-5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036C0-C5E4-D351-01B1-941E29110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178" y="4009262"/>
              <a:ext cx="352661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FFC720"/>
                  </a:solidFill>
                  <a:effectLst/>
                  <a:latin typeface="Consolas" panose="020B0609020204030204" pitchFamily="49" charset="0"/>
                </a:rPr>
                <a:t>-4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7A00C3-72DC-C03E-1B77-B61FAB6E1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9669" y="4009262"/>
              <a:ext cx="352661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FFC720"/>
                  </a:solidFill>
                  <a:effectLst/>
                  <a:latin typeface="Consolas" panose="020B0609020204030204" pitchFamily="49" charset="0"/>
                </a:rPr>
                <a:t>-3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C2A104F-A461-9F82-1588-AC7CB5291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8488" y="4009262"/>
              <a:ext cx="352661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500" dirty="0">
                  <a:solidFill>
                    <a:srgbClr val="FFC720"/>
                  </a:solidFill>
                  <a:latin typeface="Consolas" panose="020B0609020204030204" pitchFamily="49" charset="0"/>
                </a:rPr>
                <a:t>-2</a:t>
              </a:r>
              <a:endPara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FFC72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0850F76-99FA-EA56-6F0E-58D899DED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3781" y="4009262"/>
              <a:ext cx="352661" cy="5449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0" tIns="79350" rIns="0" bIns="7935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500" b="0" i="0" u="none" strike="noStrike" cap="none" normalizeH="0" baseline="0" dirty="0">
                  <a:ln>
                    <a:noFill/>
                  </a:ln>
                  <a:solidFill>
                    <a:srgbClr val="FFC720"/>
                  </a:solidFill>
                  <a:effectLst/>
                  <a:latin typeface="Consolas" panose="020B0609020204030204" pitchFamily="49" charset="0"/>
                </a:rPr>
                <a:t>-1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630A12DC-04E5-7328-3E4A-233ACF9BA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7966" y="4155285"/>
            <a:ext cx="2343590" cy="46802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rPr>
              <a:t>← count backwards</a:t>
            </a:r>
          </a:p>
        </p:txBody>
      </p:sp>
    </p:spTree>
    <p:extLst>
      <p:ext uri="{BB962C8B-B14F-4D97-AF65-F5344CB8AC3E}">
        <p14:creationId xmlns:p14="http://schemas.microsoft.com/office/powerpoint/2010/main" val="1408358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407FB7-4EEA-B5F9-BB81-2DE19BD22762}"/>
              </a:ext>
            </a:extLst>
          </p:cNvPr>
          <p:cNvSpPr/>
          <p:nvPr/>
        </p:nvSpPr>
        <p:spPr>
          <a:xfrm>
            <a:off x="2268637" y="64394"/>
            <a:ext cx="7654727" cy="6597663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A1EBB66-D87D-6A7D-02B7-179CF3AD61D2}"/>
              </a:ext>
            </a:extLst>
          </p:cNvPr>
          <p:cNvGrpSpPr/>
          <p:nvPr/>
        </p:nvGrpSpPr>
        <p:grpSpPr>
          <a:xfrm>
            <a:off x="2794197" y="412124"/>
            <a:ext cx="6603606" cy="5756856"/>
            <a:chOff x="4401391" y="412124"/>
            <a:chExt cx="6603606" cy="575685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CA9BFE8-312C-1971-373A-F1E1E4DB5EA1}"/>
                </a:ext>
              </a:extLst>
            </p:cNvPr>
            <p:cNvGrpSpPr/>
            <p:nvPr/>
          </p:nvGrpSpPr>
          <p:grpSpPr>
            <a:xfrm>
              <a:off x="4401391" y="412124"/>
              <a:ext cx="1451955" cy="5756856"/>
              <a:chOff x="4276748" y="412124"/>
              <a:chExt cx="1451955" cy="5756856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87FD350-0D92-8C87-645D-0214AD4D3F34}"/>
                  </a:ext>
                </a:extLst>
              </p:cNvPr>
              <p:cNvSpPr/>
              <p:nvPr/>
            </p:nvSpPr>
            <p:spPr>
              <a:xfrm>
                <a:off x="4282226" y="412124"/>
                <a:ext cx="1441000" cy="5756856"/>
              </a:xfrm>
              <a:prstGeom prst="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61B11CA-778C-D978-E925-8E388F1491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4637" y="1073272"/>
                <a:ext cx="716176" cy="48788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180000" tIns="72000" rIns="180000" bIns="7200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0" b="0" i="0" u="none" strike="noStrike" cap="none" normalizeH="0" baseline="0" dirty="0">
                    <a:ln>
                      <a:noFill/>
                    </a:ln>
                    <a:solidFill>
                      <a:srgbClr val="D6DEEB"/>
                    </a:solidFill>
                    <a:effectLst/>
                    <a:latin typeface="Consolas" panose="020B0609020204030204" pitchFamily="49" charset="0"/>
                  </a:rPr>
                  <a:t>a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b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0" b="0" i="0" u="none" strike="noStrike" cap="none" normalizeH="0" baseline="0" dirty="0">
                    <a:ln>
                      <a:noFill/>
                    </a:ln>
                    <a:solidFill>
                      <a:srgbClr val="D6DEEB"/>
                    </a:solidFill>
                    <a:effectLst/>
                    <a:latin typeface="Consolas" panose="020B0609020204030204" pitchFamily="49" charset="0"/>
                  </a:rPr>
                  <a:t>c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d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0" b="0" i="0" u="none" strike="noStrike" cap="none" normalizeH="0" baseline="0" dirty="0">
                    <a:ln>
                      <a:noFill/>
                    </a:ln>
                    <a:solidFill>
                      <a:srgbClr val="D6DEEB"/>
                    </a:solidFill>
                    <a:effectLst/>
                    <a:latin typeface="Consolas" panose="020B0609020204030204" pitchFamily="49" charset="0"/>
                  </a:rPr>
                  <a:t>e</a:t>
                </a:r>
                <a:endPara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408DA5E-43C6-956E-F829-C9240E7B3C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6748" y="538736"/>
                <a:ext cx="1451955" cy="4531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180000" tIns="72000" rIns="180000" bIns="7200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rgbClr val="FFC720"/>
                    </a:solidFill>
                    <a:effectLst/>
                    <a:latin typeface="Fira Sans" panose="020B0503050000020004" pitchFamily="34" charset="0"/>
                    <a:ea typeface="Fira Mono" panose="020B0509050000020004" pitchFamily="49" charset="0"/>
                  </a:rPr>
                  <a:t>iterable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FFC720"/>
                    </a:solidFill>
                    <a:effectLst/>
                    <a:latin typeface="Fira Sans" panose="020B0503050000020004" pitchFamily="34" charset="0"/>
                    <a:ea typeface="Fira Mono" panose="020B0509050000020004" pitchFamily="49" charset="0"/>
                  </a:rPr>
                  <a:t> 1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0E1C5A4-AAF1-E12A-5483-C8B6BB666B35}"/>
                </a:ext>
              </a:extLst>
            </p:cNvPr>
            <p:cNvGrpSpPr/>
            <p:nvPr/>
          </p:nvGrpSpPr>
          <p:grpSpPr>
            <a:xfrm>
              <a:off x="6011925" y="412124"/>
              <a:ext cx="1467985" cy="5756856"/>
              <a:chOff x="6011925" y="412124"/>
              <a:chExt cx="1467985" cy="5756856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8E4C8D6-74F8-0695-58A6-2C1849C186C4}"/>
                  </a:ext>
                </a:extLst>
              </p:cNvPr>
              <p:cNvSpPr/>
              <p:nvPr/>
            </p:nvSpPr>
            <p:spPr>
              <a:xfrm>
                <a:off x="6025418" y="412124"/>
                <a:ext cx="1441000" cy="5756856"/>
              </a:xfrm>
              <a:prstGeom prst="rect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8682641-1D7F-3EF9-AB48-673D2FDF6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7829" y="1073272"/>
                <a:ext cx="716176" cy="48788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180000" tIns="72000" rIns="180000" bIns="7200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p</a:t>
                </a:r>
                <a:endPara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q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r</a:t>
                </a:r>
                <a:endPara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endParaRP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s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5000" dirty="0">
                    <a:solidFill>
                      <a:srgbClr val="D6DEEB"/>
                    </a:solidFill>
                    <a:latin typeface="Consolas" panose="020B0609020204030204" pitchFamily="49" charset="0"/>
                  </a:rPr>
                  <a:t>t</a:t>
                </a:r>
                <a:endPara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Consolas" panose="020B0609020204030204" pitchFamily="49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D8C8E98-4F95-6854-1508-F790F2AEF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1925" y="538736"/>
                <a:ext cx="1467985" cy="4531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="horz" wrap="none" lIns="180000" tIns="72000" rIns="180000" bIns="7200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0" i="0" u="none" strike="noStrike" cap="none" normalizeH="0" baseline="0" dirty="0" err="1">
                    <a:ln>
                      <a:noFill/>
                    </a:ln>
                    <a:solidFill>
                      <a:srgbClr val="C792EA"/>
                    </a:solidFill>
                    <a:effectLst/>
                    <a:latin typeface="Fira Sans" panose="020B0503050000020004" pitchFamily="34" charset="0"/>
                    <a:ea typeface="Fira Mono" panose="020B0509050000020004" pitchFamily="49" charset="0"/>
                  </a:rPr>
                  <a:t>iterable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rgbClr val="C792EA"/>
                    </a:solidFill>
                    <a:effectLst/>
                    <a:latin typeface="Fira Sans" panose="020B0503050000020004" pitchFamily="34" charset="0"/>
                    <a:ea typeface="Fira Mono" panose="020B0509050000020004" pitchFamily="49" charset="0"/>
                  </a:rPr>
                  <a:t> 2</a:t>
                </a:r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6FC598A-2A44-7AA0-6746-A6DA447D70AD}"/>
                </a:ext>
              </a:extLst>
            </p:cNvPr>
            <p:cNvSpPr/>
            <p:nvPr/>
          </p:nvSpPr>
          <p:spPr>
            <a:xfrm>
              <a:off x="7934601" y="412124"/>
              <a:ext cx="3070396" cy="5756856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31ABF70-3A5E-4784-D29A-7F644C651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78745" y="1073272"/>
              <a:ext cx="2479479" cy="48788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180000" tIns="72000" rIns="180000" bIns="7200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>
                      <a:alpha val="20000"/>
                    </a:srgbClr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a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>
                      <a:alpha val="20000"/>
                    </a:srgbClr>
                  </a:solidFill>
                  <a:effectLst/>
                  <a:latin typeface="Consolas" panose="020B0609020204030204" pitchFamily="49" charset="0"/>
                </a:rPr>
                <a:t>,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/>
                  </a:solidFill>
                  <a:effectLst/>
                  <a:latin typeface="Consolas" panose="020B0609020204030204" pitchFamily="49" charset="0"/>
                </a:rPr>
                <a:t> p</a:t>
              </a:r>
              <a:r>
                <a:rPr kumimoji="0" lang="en-US" altLang="en-US" sz="5000" b="0" i="0" u="none" strike="noStrike" cap="none" normalizeH="0" baseline="0" dirty="0">
                  <a:ln>
                    <a:noFill/>
                  </a:ln>
                  <a:solidFill>
                    <a:srgbClr val="D6DEEB">
                      <a:alpha val="20000"/>
                    </a:srgbClr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b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 q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c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 r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)</a:t>
              </a:r>
              <a:endPara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D6DEEB">
                    <a:alpha val="20000"/>
                  </a:srgbClr>
                </a:solidFill>
                <a:effectLst/>
                <a:latin typeface="Consolas" panose="020B0609020204030204" pitchFamily="49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d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 s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)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e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en-US" sz="5000" dirty="0">
                  <a:solidFill>
                    <a:srgbClr val="D6DEEB"/>
                  </a:solidFill>
                  <a:latin typeface="Consolas" panose="020B0609020204030204" pitchFamily="49" charset="0"/>
                </a:rPr>
                <a:t> t</a:t>
              </a:r>
              <a:r>
                <a:rPr lang="en-US" altLang="en-US" sz="5000" dirty="0">
                  <a:solidFill>
                    <a:srgbClr val="D6DEEB">
                      <a:alpha val="20000"/>
                    </a:srgbClr>
                  </a:solidFill>
                  <a:latin typeface="Consolas" panose="020B0609020204030204" pitchFamily="49" charset="0"/>
                </a:rPr>
                <a:t>)</a:t>
              </a:r>
              <a:endParaRPr kumimoji="0" lang="en-US" altLang="en-US" sz="5000" b="0" i="0" u="none" strike="noStrike" cap="none" normalizeH="0" baseline="0" dirty="0">
                <a:ln>
                  <a:noFill/>
                </a:ln>
                <a:solidFill>
                  <a:srgbClr val="D6DEEB">
                    <a:alpha val="20000"/>
                  </a:srgbClr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C1CCA8-0793-6FE3-1556-894C56E20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93" y="538736"/>
              <a:ext cx="1145782" cy="45318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="horz" wrap="none" lIns="180000" tIns="72000" rIns="180000" bIns="7200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rgbClr val="ADDB67"/>
                  </a:solidFill>
                  <a:effectLst/>
                  <a:latin typeface="Fira Sans" panose="020B0503050000020004" pitchFamily="34" charset="0"/>
                  <a:ea typeface="Fira Mono" panose="020B0509050000020004" pitchFamily="49" charset="0"/>
                </a:rPr>
                <a:t>zipped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CCCDDFA-E135-5EFB-BF22-B228E414C790}"/>
                </a:ext>
              </a:extLst>
            </p:cNvPr>
            <p:cNvGrpSpPr/>
            <p:nvPr/>
          </p:nvGrpSpPr>
          <p:grpSpPr>
            <a:xfrm>
              <a:off x="7322976" y="1707969"/>
              <a:ext cx="867988" cy="3805707"/>
              <a:chOff x="5277726" y="1707969"/>
              <a:chExt cx="901642" cy="3805707"/>
            </a:xfrm>
          </p:grpSpPr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39821751-7A53-78D0-1AC0-AC2777425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726" y="1707969"/>
                <a:ext cx="901642" cy="0"/>
              </a:xfrm>
              <a:prstGeom prst="straightConnector1">
                <a:avLst/>
              </a:prstGeom>
              <a:noFill/>
              <a:ln w="25400">
                <a:solidFill>
                  <a:srgbClr val="ADDB67"/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B0EFD5D1-CEAC-DC44-47F5-B05398950C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726" y="2659396"/>
                <a:ext cx="901642" cy="0"/>
              </a:xfrm>
              <a:prstGeom prst="straightConnector1">
                <a:avLst/>
              </a:prstGeom>
              <a:noFill/>
              <a:ln w="25400">
                <a:solidFill>
                  <a:srgbClr val="ADDB67"/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BECF4BC2-B193-868A-4687-9187D34CA9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726" y="3610823"/>
                <a:ext cx="901642" cy="0"/>
              </a:xfrm>
              <a:prstGeom prst="straightConnector1">
                <a:avLst/>
              </a:prstGeom>
              <a:noFill/>
              <a:ln w="25400">
                <a:solidFill>
                  <a:srgbClr val="ADDB67"/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1561A4A9-FDCA-7C40-6803-8AFB7B97FC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726" y="4562250"/>
                <a:ext cx="901642" cy="0"/>
              </a:xfrm>
              <a:prstGeom prst="straightConnector1">
                <a:avLst/>
              </a:prstGeom>
              <a:noFill/>
              <a:ln w="25400">
                <a:solidFill>
                  <a:srgbClr val="ADDB67"/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6468C00C-2B68-C06B-0B51-720C33FC4A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77726" y="5513676"/>
                <a:ext cx="901642" cy="0"/>
              </a:xfrm>
              <a:prstGeom prst="straightConnector1">
                <a:avLst/>
              </a:prstGeom>
              <a:noFill/>
              <a:ln w="25400">
                <a:solidFill>
                  <a:srgbClr val="ADDB67"/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935706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D66869-0911-27B8-0480-27728D3FF76F}"/>
              </a:ext>
            </a:extLst>
          </p:cNvPr>
          <p:cNvSpPr/>
          <p:nvPr/>
        </p:nvSpPr>
        <p:spPr>
          <a:xfrm>
            <a:off x="1953986" y="1466850"/>
            <a:ext cx="8284028" cy="3924301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21C98-61D9-513E-6010-622672A01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063" y="1771309"/>
            <a:ext cx="7405874" cy="6219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D6DEEB"/>
                </a:solidFill>
                <a:latin typeface="Consolas" panose="020B0609020204030204" pitchFamily="49" charset="0"/>
              </a:rPr>
              <a:t>{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FFC72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FF5874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 each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7FDBC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3000" dirty="0">
                <a:solidFill>
                  <a:srgbClr val="7FDBCA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000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000" dirty="0" err="1">
                <a:solidFill>
                  <a:srgbClr val="D6DEEB"/>
                </a:solidFill>
                <a:latin typeface="Consolas" panose="020B0609020204030204" pitchFamily="49" charset="0"/>
              </a:rPr>
              <a:t>iterable</a:t>
            </a:r>
            <a:r>
              <a:rPr lang="en-US" altLang="en-US" sz="3000" dirty="0">
                <a:solidFill>
                  <a:srgbClr val="D6DEEB"/>
                </a:solidFill>
                <a:latin typeface="Consolas" panose="020B0609020204030204" pitchFamily="49" charset="0"/>
              </a:rPr>
              <a:t> }</a:t>
            </a: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2C105-07DA-075F-45A4-40AB1A2E7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063" y="3427087"/>
            <a:ext cx="3385542" cy="1545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D6DEEB">
                    <a:alpha val="50000"/>
                  </a:srgbClr>
                </a:solidFill>
                <a:latin typeface="Consolas" panose="020B0609020204030204" pitchFamily="49" charset="0"/>
              </a:rPr>
              <a:t>{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key1: value1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D6DEEB">
                    <a:alpha val="50000"/>
                  </a:srgbClr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key2: value2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D6DEEB">
                    <a:alpha val="50000"/>
                  </a:srgbClr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key3: value3 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C2C3FF2-B5C5-2443-7C4E-4542C29EB6DD}"/>
              </a:ext>
            </a:extLst>
          </p:cNvPr>
          <p:cNvCxnSpPr>
            <a:cxnSpLocks/>
          </p:cNvCxnSpPr>
          <p:nvPr/>
        </p:nvCxnSpPr>
        <p:spPr>
          <a:xfrm>
            <a:off x="3220571" y="2555764"/>
            <a:ext cx="0" cy="712673"/>
          </a:xfrm>
          <a:prstGeom prst="straightConnector1">
            <a:avLst/>
          </a:prstGeom>
          <a:noFill/>
          <a:ln w="25400">
            <a:solidFill>
              <a:srgbClr val="FFC72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735C9C0-A461-C10C-511E-3EF1B0A4F331}"/>
              </a:ext>
            </a:extLst>
          </p:cNvPr>
          <p:cNvCxnSpPr>
            <a:cxnSpLocks/>
          </p:cNvCxnSpPr>
          <p:nvPr/>
        </p:nvCxnSpPr>
        <p:spPr>
          <a:xfrm>
            <a:off x="4428884" y="2555764"/>
            <a:ext cx="0" cy="712673"/>
          </a:xfrm>
          <a:prstGeom prst="straightConnector1">
            <a:avLst/>
          </a:prstGeom>
          <a:noFill/>
          <a:ln w="25400">
            <a:solidFill>
              <a:srgbClr val="FF5874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00D0C8-40C1-057E-B137-DA49163C03D6}"/>
              </a:ext>
            </a:extLst>
          </p:cNvPr>
          <p:cNvCxnSpPr>
            <a:cxnSpLocks/>
          </p:cNvCxnSpPr>
          <p:nvPr/>
        </p:nvCxnSpPr>
        <p:spPr>
          <a:xfrm>
            <a:off x="8549127" y="2555764"/>
            <a:ext cx="0" cy="712673"/>
          </a:xfrm>
          <a:prstGeom prst="straightConnector1">
            <a:avLst/>
          </a:prstGeom>
          <a:noFill/>
          <a:ln w="25400">
            <a:solidFill>
              <a:srgbClr val="D6DEEB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06C43F0-98B7-DA95-0323-C0FE383AE9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943" y="3427087"/>
            <a:ext cx="1904367" cy="154524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D6DEEB">
                    <a:alpha val="50000"/>
                  </a:srgbClr>
                </a:solidFill>
                <a:latin typeface="Consolas" panose="020B0609020204030204" pitchFamily="49" charset="0"/>
              </a:rPr>
              <a:t>[ each1,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rgbClr val="D6DEE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  each2,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000" dirty="0">
                <a:solidFill>
                  <a:srgbClr val="D6DEEB">
                    <a:alpha val="50000"/>
                  </a:srgbClr>
                </a:solidFill>
                <a:latin typeface="Consolas" panose="020B0609020204030204" pitchFamily="49" charset="0"/>
              </a:rPr>
              <a:t>  each3 ]</a:t>
            </a:r>
          </a:p>
        </p:txBody>
      </p:sp>
    </p:spTree>
    <p:extLst>
      <p:ext uri="{BB962C8B-B14F-4D97-AF65-F5344CB8AC3E}">
        <p14:creationId xmlns:p14="http://schemas.microsoft.com/office/powerpoint/2010/main" val="2173943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F0A3B0-725D-F3BD-3F32-667A4611A7AE}"/>
              </a:ext>
            </a:extLst>
          </p:cNvPr>
          <p:cNvSpPr/>
          <p:nvPr/>
        </p:nvSpPr>
        <p:spPr>
          <a:xfrm>
            <a:off x="1953986" y="1665514"/>
            <a:ext cx="8284028" cy="3526972"/>
          </a:xfrm>
          <a:prstGeom prst="rect">
            <a:avLst/>
          </a:prstGeom>
          <a:solidFill>
            <a:srgbClr val="0116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85D692-392D-8581-FBDE-03E58FCF4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9988" y="2194713"/>
            <a:ext cx="5992025" cy="246857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x = </a:t>
            </a:r>
            <a:r>
              <a:rPr lang="en-GB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🥕        </a:t>
            </a:r>
            <a:r>
              <a:rPr kumimoji="0" lang="en-GB" altLang="en-US" sz="5000" b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🫧</a:t>
            </a:r>
            <a:endParaRPr lang="en-US" altLang="en-US" sz="5000" dirty="0">
              <a:solidFill>
                <a:srgbClr val="D6DEEB"/>
              </a:solidFill>
              <a:latin typeface="Consolas" panose="020B06090202040302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5000" dirty="0">
              <a:solidFill>
                <a:srgbClr val="D6DEEB"/>
              </a:solidFill>
              <a:latin typeface="Consolas" panose="020B0609020204030204" pitchFamily="49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000" b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kumimoji="0" lang="en-GB" altLang="en-US" sz="5000" b="0" u="none" strike="noStrike" cap="none" normalizeH="0" baseline="0" dirty="0">
                <a:ln>
                  <a:noFill/>
                </a:ln>
                <a:solidFill>
                  <a:srgbClr val="D6DEEB"/>
                </a:solidFill>
                <a:effectLst/>
                <a:latin typeface="Consolas" panose="020B0609020204030204" pitchFamily="49" charset="0"/>
              </a:rPr>
              <a:t>🫧        </a:t>
            </a:r>
            <a:r>
              <a:rPr lang="en-GB" altLang="en-US" sz="5000" dirty="0">
                <a:solidFill>
                  <a:srgbClr val="D6DEEB"/>
                </a:solidFill>
                <a:latin typeface="Consolas" panose="020B0609020204030204" pitchFamily="49" charset="0"/>
              </a:rPr>
              <a:t>🥕</a:t>
            </a:r>
            <a:endParaRPr kumimoji="0" lang="en-US" altLang="en-US" sz="5000" b="0" u="none" strike="noStrike" cap="none" normalizeH="0" baseline="0" dirty="0">
              <a:ln>
                <a:noFill/>
              </a:ln>
              <a:solidFill>
                <a:srgbClr val="D6DEEB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E564E78-B1C6-21C5-807F-D0C594C1CFCD}"/>
              </a:ext>
            </a:extLst>
          </p:cNvPr>
          <p:cNvCxnSpPr>
            <a:cxnSpLocks/>
          </p:cNvCxnSpPr>
          <p:nvPr/>
        </p:nvCxnSpPr>
        <p:spPr>
          <a:xfrm>
            <a:off x="5573487" y="2999013"/>
            <a:ext cx="2449286" cy="1137557"/>
          </a:xfrm>
          <a:prstGeom prst="straightConnector1">
            <a:avLst/>
          </a:prstGeom>
          <a:noFill/>
          <a:ln w="25400">
            <a:solidFill>
              <a:srgbClr val="FFC72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B75E09-29F3-E1F3-BFFA-8255D147F8EB}"/>
              </a:ext>
            </a:extLst>
          </p:cNvPr>
          <p:cNvCxnSpPr>
            <a:cxnSpLocks/>
          </p:cNvCxnSpPr>
          <p:nvPr/>
        </p:nvCxnSpPr>
        <p:spPr>
          <a:xfrm flipV="1">
            <a:off x="5573487" y="2999013"/>
            <a:ext cx="2449286" cy="1137557"/>
          </a:xfrm>
          <a:prstGeom prst="straightConnector1">
            <a:avLst/>
          </a:prstGeom>
          <a:noFill/>
          <a:ln w="25400">
            <a:solidFill>
              <a:srgbClr val="C792EA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702885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.I.P. Dennis Ritchie, half of the K&amp;R Bible for C Programming |  Code.DanYork.Com">
            <a:extLst>
              <a:ext uri="{FF2B5EF4-FFF2-40B4-BE49-F238E27FC236}">
                <a16:creationId xmlns:a16="http://schemas.microsoft.com/office/drawing/2014/main" id="{4F618E1B-FB45-AED6-D333-5683F546F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510" y="3541690"/>
            <a:ext cx="1749014" cy="219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he pragmatic programmer book tips (Part 1) - DEV Community">
            <a:extLst>
              <a:ext uri="{FF2B5EF4-FFF2-40B4-BE49-F238E27FC236}">
                <a16:creationId xmlns:a16="http://schemas.microsoft.com/office/drawing/2014/main" id="{21CC373A-FCCE-5CB4-910E-621E22C7C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43" t="15300" r="7229"/>
          <a:stretch/>
        </p:blipFill>
        <p:spPr bwMode="auto">
          <a:xfrm>
            <a:off x="7700677" y="3540148"/>
            <a:ext cx="2291099" cy="219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D4133B-817A-AC8B-DA30-E2773CFC79F5}"/>
              </a:ext>
            </a:extLst>
          </p:cNvPr>
          <p:cNvSpPr/>
          <p:nvPr/>
        </p:nvSpPr>
        <p:spPr>
          <a:xfrm>
            <a:off x="5081789" y="920839"/>
            <a:ext cx="2028423" cy="2028423"/>
          </a:xfrm>
          <a:prstGeom prst="rect">
            <a:avLst/>
          </a:prstGeom>
          <a:noFill/>
          <a:ln w="50800">
            <a:solidFill>
              <a:schemeClr val="bg1">
                <a:lumMod val="9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EC800D0-3506-1B81-EE52-78B4F30D53A1}"/>
              </a:ext>
            </a:extLst>
          </p:cNvPr>
          <p:cNvCxnSpPr>
            <a:cxnSpLocks/>
          </p:cNvCxnSpPr>
          <p:nvPr/>
        </p:nvCxnSpPr>
        <p:spPr>
          <a:xfrm flipV="1">
            <a:off x="3656451" y="1935050"/>
            <a:ext cx="1198884" cy="1381260"/>
          </a:xfrm>
          <a:prstGeom prst="straightConnector1">
            <a:avLst/>
          </a:prstGeom>
          <a:noFill/>
          <a:ln w="50800">
            <a:solidFill>
              <a:srgbClr val="FFC72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923C5C4-FCDA-6839-5189-0D5858884BC6}"/>
              </a:ext>
            </a:extLst>
          </p:cNvPr>
          <p:cNvCxnSpPr>
            <a:cxnSpLocks/>
          </p:cNvCxnSpPr>
          <p:nvPr/>
        </p:nvCxnSpPr>
        <p:spPr>
          <a:xfrm flipH="1">
            <a:off x="4855335" y="4639882"/>
            <a:ext cx="2575775" cy="0"/>
          </a:xfrm>
          <a:prstGeom prst="straightConnector1">
            <a:avLst/>
          </a:prstGeom>
          <a:noFill/>
          <a:ln w="50800">
            <a:solidFill>
              <a:srgbClr val="FFC72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8CCAC00-416D-DFB3-3951-057CE1CE1D86}"/>
              </a:ext>
            </a:extLst>
          </p:cNvPr>
          <p:cNvCxnSpPr>
            <a:cxnSpLocks/>
          </p:cNvCxnSpPr>
          <p:nvPr/>
        </p:nvCxnSpPr>
        <p:spPr>
          <a:xfrm>
            <a:off x="7480533" y="1935050"/>
            <a:ext cx="1198884" cy="1381260"/>
          </a:xfrm>
          <a:prstGeom prst="straightConnector1">
            <a:avLst/>
          </a:prstGeom>
          <a:noFill/>
          <a:ln w="50800">
            <a:solidFill>
              <a:srgbClr val="FFC72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AA663124-AFB2-5702-7041-4AF3D9077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183" y="2080709"/>
            <a:ext cx="139462" cy="5449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500" dirty="0">
                <a:solidFill>
                  <a:srgbClr val="C792EA"/>
                </a:solidFill>
                <a:latin typeface="Fira Sans" panose="020B0503050000020004" pitchFamily="34" charset="0"/>
                <a:ea typeface="Fira Mono" panose="020B0509050000020004" pitchFamily="49" charset="0"/>
              </a:rPr>
              <a:t>1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C792EA"/>
              </a:solidFill>
              <a:effectLst/>
              <a:latin typeface="Fira Sans" panose="020B0503050000020004" pitchFamily="34" charset="0"/>
              <a:ea typeface="Fira Mono" panose="020B05090500000200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0E1831-FA17-C198-7579-680F7B8B8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3873" y="4894743"/>
            <a:ext cx="158698" cy="5449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0" i="0" u="none" strike="noStrike" cap="none" normalizeH="0" baseline="0" dirty="0">
                <a:ln>
                  <a:noFill/>
                </a:ln>
                <a:solidFill>
                  <a:srgbClr val="C792EA"/>
                </a:solidFill>
                <a:effectLst/>
                <a:latin typeface="Fira Sans" panose="020B0503050000020004" pitchFamily="34" charset="0"/>
                <a:ea typeface="Fira Mono" panose="020B0509050000020004" pitchFamily="49" charset="0"/>
              </a:rPr>
              <a:t>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68F696-1F62-490F-2162-8A6AC7B80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48" y="2080709"/>
            <a:ext cx="160300" cy="54497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79350" rIns="0" bIns="7935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500" dirty="0">
                <a:solidFill>
                  <a:srgbClr val="C792EA"/>
                </a:solidFill>
                <a:latin typeface="Fira Sans" panose="020B0503050000020004" pitchFamily="34" charset="0"/>
                <a:ea typeface="Fira Mono" panose="020B0509050000020004" pitchFamily="49" charset="0"/>
              </a:rPr>
              <a:t>3</a:t>
            </a:r>
            <a:endParaRPr kumimoji="0" lang="en-US" altLang="en-US" sz="2500" b="0" i="0" u="none" strike="noStrike" cap="none" normalizeH="0" baseline="0" dirty="0">
              <a:ln>
                <a:noFill/>
              </a:ln>
              <a:solidFill>
                <a:srgbClr val="C792EA"/>
              </a:solidFill>
              <a:effectLst/>
              <a:latin typeface="Fira Sans" panose="020B0503050000020004" pitchFamily="34" charset="0"/>
              <a:ea typeface="Fira Mono" panose="020B05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2392795"/>
      </p:ext>
    </p:extLst>
  </p:cSld>
  <p:clrMapOvr>
    <a:masterClrMapping/>
  </p:clrMapOvr>
</p:sld>
</file>

<file path=ppt/theme/theme1.xml><?xml version="1.0" encoding="utf-8"?>
<a:theme xmlns:a="http://schemas.openxmlformats.org/drawingml/2006/main" name="Nova">
  <a:themeElements>
    <a:clrScheme name="Nova">
      <a:dk1>
        <a:srgbClr val="00172A"/>
      </a:dk1>
      <a:lt1>
        <a:srgbClr val="FFFFFF"/>
      </a:lt1>
      <a:dk2>
        <a:srgbClr val="A9B0C2"/>
      </a:dk2>
      <a:lt2>
        <a:srgbClr val="FDFEFF"/>
      </a:lt2>
      <a:accent1>
        <a:srgbClr val="4090F1"/>
      </a:accent1>
      <a:accent2>
        <a:srgbClr val="FF0090"/>
      </a:accent2>
      <a:accent3>
        <a:srgbClr val="9040F1"/>
      </a:accent3>
      <a:accent4>
        <a:srgbClr val="40F190"/>
      </a:accent4>
      <a:accent5>
        <a:srgbClr val="40E0FF"/>
      </a:accent5>
      <a:accent6>
        <a:srgbClr val="FFC720"/>
      </a:accent6>
      <a:hlink>
        <a:srgbClr val="C0F0FF"/>
      </a:hlink>
      <a:folHlink>
        <a:srgbClr val="9090F1"/>
      </a:folHlink>
    </a:clrScheme>
    <a:fontScheme name="Custom 1">
      <a:majorFont>
        <a:latin typeface="Montserrat Medium"/>
        <a:ea typeface="Noto Sans SC Regular"/>
        <a:cs typeface=""/>
      </a:majorFont>
      <a:minorFont>
        <a:latin typeface="Abel"/>
        <a:ea typeface="Yuanti S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va" id="{B96E6425-A16B-4378-B3FA-4ADBD1115D7B}" vid="{5EA739E8-482D-4A3B-9FF2-715D176D792D}"/>
    </a:ext>
  </a:extLst>
</a:theme>
</file>

<file path=ppt/theme/theme2.xml><?xml version="1.0" encoding="utf-8"?>
<a:theme xmlns:a="http://schemas.openxmlformats.org/drawingml/2006/main" name="Alpha IV">
  <a:themeElements>
    <a:clrScheme name="Custom 1">
      <a:dk1>
        <a:srgbClr val="00172A"/>
      </a:dk1>
      <a:lt1>
        <a:srgbClr val="FFFFFF"/>
      </a:lt1>
      <a:dk2>
        <a:srgbClr val="A9B0B8"/>
      </a:dk2>
      <a:lt2>
        <a:srgbClr val="FDFEFF"/>
      </a:lt2>
      <a:accent1>
        <a:srgbClr val="4090F1"/>
      </a:accent1>
      <a:accent2>
        <a:srgbClr val="FF0090"/>
      </a:accent2>
      <a:accent3>
        <a:srgbClr val="9040F1"/>
      </a:accent3>
      <a:accent4>
        <a:srgbClr val="40F190"/>
      </a:accent4>
      <a:accent5>
        <a:srgbClr val="40E0FF"/>
      </a:accent5>
      <a:accent6>
        <a:srgbClr val="FFC720"/>
      </a:accent6>
      <a:hlink>
        <a:srgbClr val="9090F1"/>
      </a:hlink>
      <a:folHlink>
        <a:srgbClr val="9090F1"/>
      </a:folHlink>
    </a:clrScheme>
    <a:fontScheme name="Standard">
      <a:majorFont>
        <a:latin typeface="Montserrat Medium"/>
        <a:ea typeface="Noto Sans SC Medium"/>
        <a:cs typeface=""/>
      </a:majorFont>
      <a:minorFont>
        <a:latin typeface="Noto Sans"/>
        <a:ea typeface="Yuanti SC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pha IV" id="{3E2AE266-2CBB-4100-B1B0-D9D328B58B2C}" vid="{4CE2B6E0-FA5C-4829-B764-B987E65C64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Nova</Template>
  <TotalTime>350</TotalTime>
  <Words>387</Words>
  <Application>Microsoft Office PowerPoint</Application>
  <PresentationFormat>Widescreen</PresentationFormat>
  <Paragraphs>90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Consolas</vt:lpstr>
      <vt:lpstr>Fira Sans</vt:lpstr>
      <vt:lpstr>Geologica Thin</vt:lpstr>
      <vt:lpstr>Montserrat Medium</vt:lpstr>
      <vt:lpstr>Overpass</vt:lpstr>
      <vt:lpstr>Roboto Mono</vt:lpstr>
      <vt:lpstr>Sniglet</vt:lpstr>
      <vt:lpstr>Nova</vt:lpstr>
      <vt:lpstr>Alpha IV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Dawei Tao (dtao197051 - SFC1)</cp:lastModifiedBy>
  <cp:revision>98</cp:revision>
  <dcterms:created xsi:type="dcterms:W3CDTF">2024-05-22T17:18:46Z</dcterms:created>
  <dcterms:modified xsi:type="dcterms:W3CDTF">2025-02-27T13:00:55Z</dcterms:modified>
</cp:coreProperties>
</file>